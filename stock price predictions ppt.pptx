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8D58D5-FFB5-4C5C-929C-936C945E9242}" v="617" dt="2024-05-26T08:15:53.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23031F-9ACB-4048-929F-F98435A2DBA3}"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C57416B2-8D84-47F4-AA06-FE31C07C85B1}">
      <dgm:prSet/>
      <dgm:spPr/>
      <dgm:t>
        <a:bodyPr/>
        <a:lstStyle/>
        <a:p>
          <a:pPr>
            <a:lnSpc>
              <a:spcPct val="100000"/>
            </a:lnSpc>
            <a:defRPr cap="all"/>
          </a:pPr>
          <a:r>
            <a:rPr lang="en-GB"/>
            <a:t>Historical stock price data for Apple Inc., including features such as date, open, high, low, close, and volume.</a:t>
          </a:r>
          <a:endParaRPr lang="en-US"/>
        </a:p>
      </dgm:t>
    </dgm:pt>
    <dgm:pt modelId="{48BABF1A-8365-486C-B42E-8F3476FBA20A}" type="parTrans" cxnId="{1D5C134D-DB29-4663-B948-D10D8A4376FF}">
      <dgm:prSet/>
      <dgm:spPr/>
      <dgm:t>
        <a:bodyPr/>
        <a:lstStyle/>
        <a:p>
          <a:endParaRPr lang="en-US"/>
        </a:p>
      </dgm:t>
    </dgm:pt>
    <dgm:pt modelId="{C86E9E06-0828-451B-A4B3-0D41197AF662}" type="sibTrans" cxnId="{1D5C134D-DB29-4663-B948-D10D8A4376FF}">
      <dgm:prSet/>
      <dgm:spPr/>
      <dgm:t>
        <a:bodyPr/>
        <a:lstStyle/>
        <a:p>
          <a:endParaRPr lang="en-US"/>
        </a:p>
      </dgm:t>
    </dgm:pt>
    <dgm:pt modelId="{B4A2D2C5-F382-42CF-91F4-98597B2A1670}">
      <dgm:prSet/>
      <dgm:spPr/>
      <dgm:t>
        <a:bodyPr/>
        <a:lstStyle/>
        <a:p>
          <a:pPr>
            <a:lnSpc>
              <a:spcPct val="100000"/>
            </a:lnSpc>
            <a:defRPr cap="all"/>
          </a:pPr>
          <a:r>
            <a:rPr lang="en-GB"/>
            <a:t>The dataset consists of historical stock price data with the following features</a:t>
          </a:r>
          <a:endParaRPr lang="en-US"/>
        </a:p>
      </dgm:t>
    </dgm:pt>
    <dgm:pt modelId="{DEE69817-24BC-445A-B0AA-54410B6073BC}" type="parTrans" cxnId="{E6103DF7-CDF0-42E8-A228-A4307C585246}">
      <dgm:prSet/>
      <dgm:spPr/>
      <dgm:t>
        <a:bodyPr/>
        <a:lstStyle/>
        <a:p>
          <a:endParaRPr lang="en-US"/>
        </a:p>
      </dgm:t>
    </dgm:pt>
    <dgm:pt modelId="{8E916B58-A384-4105-83A8-9882DCEFDDEC}" type="sibTrans" cxnId="{E6103DF7-CDF0-42E8-A228-A4307C585246}">
      <dgm:prSet/>
      <dgm:spPr/>
      <dgm:t>
        <a:bodyPr/>
        <a:lstStyle/>
        <a:p>
          <a:endParaRPr lang="en-US"/>
        </a:p>
      </dgm:t>
    </dgm:pt>
    <dgm:pt modelId="{B5567CE4-52BE-4572-B7A1-8A31072F494F}">
      <dgm:prSet/>
      <dgm:spPr/>
      <dgm:t>
        <a:bodyPr/>
        <a:lstStyle/>
        <a:p>
          <a:pPr>
            <a:lnSpc>
              <a:spcPct val="100000"/>
            </a:lnSpc>
            <a:defRPr cap="all"/>
          </a:pPr>
          <a:r>
            <a:rPr lang="en-GB"/>
            <a:t>Date: The date of the recorded stock price. </a:t>
          </a:r>
          <a:endParaRPr lang="en-US"/>
        </a:p>
      </dgm:t>
    </dgm:pt>
    <dgm:pt modelId="{5D41D4E0-669A-4214-91F9-6B0FCB5DB757}" type="parTrans" cxnId="{31220547-AE58-4562-AE31-30BE9FE33A23}">
      <dgm:prSet/>
      <dgm:spPr/>
      <dgm:t>
        <a:bodyPr/>
        <a:lstStyle/>
        <a:p>
          <a:endParaRPr lang="en-US"/>
        </a:p>
      </dgm:t>
    </dgm:pt>
    <dgm:pt modelId="{9ADDAD3C-531B-4F03-AFB9-9702A0FB392A}" type="sibTrans" cxnId="{31220547-AE58-4562-AE31-30BE9FE33A23}">
      <dgm:prSet/>
      <dgm:spPr/>
      <dgm:t>
        <a:bodyPr/>
        <a:lstStyle/>
        <a:p>
          <a:endParaRPr lang="en-US"/>
        </a:p>
      </dgm:t>
    </dgm:pt>
    <dgm:pt modelId="{FDF77A38-806D-4E7B-A034-F68E1905FCBD}">
      <dgm:prSet/>
      <dgm:spPr/>
      <dgm:t>
        <a:bodyPr/>
        <a:lstStyle/>
        <a:p>
          <a:pPr>
            <a:lnSpc>
              <a:spcPct val="100000"/>
            </a:lnSpc>
            <a:defRPr cap="all"/>
          </a:pPr>
          <a:r>
            <a:rPr lang="en-GB"/>
            <a:t>Open: The opening price of the stock on that date. </a:t>
          </a:r>
          <a:endParaRPr lang="en-US"/>
        </a:p>
      </dgm:t>
    </dgm:pt>
    <dgm:pt modelId="{BBBD301A-D625-4D79-B027-F9E88E670F39}" type="parTrans" cxnId="{4E14E448-88DD-463F-9F59-5CFE440ADE3A}">
      <dgm:prSet/>
      <dgm:spPr/>
      <dgm:t>
        <a:bodyPr/>
        <a:lstStyle/>
        <a:p>
          <a:endParaRPr lang="en-US"/>
        </a:p>
      </dgm:t>
    </dgm:pt>
    <dgm:pt modelId="{8756F72E-9DF4-42F4-8323-A19A68DE3563}" type="sibTrans" cxnId="{4E14E448-88DD-463F-9F59-5CFE440ADE3A}">
      <dgm:prSet/>
      <dgm:spPr/>
      <dgm:t>
        <a:bodyPr/>
        <a:lstStyle/>
        <a:p>
          <a:endParaRPr lang="en-US"/>
        </a:p>
      </dgm:t>
    </dgm:pt>
    <dgm:pt modelId="{C589BDE5-002F-4884-8335-6FEF3E3C14F7}">
      <dgm:prSet/>
      <dgm:spPr/>
      <dgm:t>
        <a:bodyPr/>
        <a:lstStyle/>
        <a:p>
          <a:pPr>
            <a:lnSpc>
              <a:spcPct val="100000"/>
            </a:lnSpc>
            <a:defRPr cap="all"/>
          </a:pPr>
          <a:r>
            <a:rPr lang="en-GB"/>
            <a:t>High: The highest price of the stock on that date. </a:t>
          </a:r>
          <a:endParaRPr lang="en-US"/>
        </a:p>
      </dgm:t>
    </dgm:pt>
    <dgm:pt modelId="{27401FD8-990D-407D-B14C-99102664132D}" type="parTrans" cxnId="{8BE08E98-6D19-4F58-A237-693F374D7142}">
      <dgm:prSet/>
      <dgm:spPr/>
      <dgm:t>
        <a:bodyPr/>
        <a:lstStyle/>
        <a:p>
          <a:endParaRPr lang="en-US"/>
        </a:p>
      </dgm:t>
    </dgm:pt>
    <dgm:pt modelId="{3F5E7CD6-11B5-44DE-B1FA-6516BDE6C91D}" type="sibTrans" cxnId="{8BE08E98-6D19-4F58-A237-693F374D7142}">
      <dgm:prSet/>
      <dgm:spPr/>
      <dgm:t>
        <a:bodyPr/>
        <a:lstStyle/>
        <a:p>
          <a:endParaRPr lang="en-US"/>
        </a:p>
      </dgm:t>
    </dgm:pt>
    <dgm:pt modelId="{57805465-B111-4CAA-AA44-BF84E99CBEE1}">
      <dgm:prSet/>
      <dgm:spPr/>
      <dgm:t>
        <a:bodyPr/>
        <a:lstStyle/>
        <a:p>
          <a:pPr>
            <a:lnSpc>
              <a:spcPct val="100000"/>
            </a:lnSpc>
            <a:defRPr cap="all"/>
          </a:pPr>
          <a:r>
            <a:rPr lang="en-GB"/>
            <a:t>Low: The lowest price of the stock on that date. </a:t>
          </a:r>
          <a:endParaRPr lang="en-US"/>
        </a:p>
      </dgm:t>
    </dgm:pt>
    <dgm:pt modelId="{C3DF6324-9BDB-4D34-8A39-5D9FD6A3F5F3}" type="parTrans" cxnId="{5658AF18-737C-46B8-AEFB-7F009AA08720}">
      <dgm:prSet/>
      <dgm:spPr/>
      <dgm:t>
        <a:bodyPr/>
        <a:lstStyle/>
        <a:p>
          <a:endParaRPr lang="en-US"/>
        </a:p>
      </dgm:t>
    </dgm:pt>
    <dgm:pt modelId="{9A8BA285-E44C-461B-BF2F-74629F99A056}" type="sibTrans" cxnId="{5658AF18-737C-46B8-AEFB-7F009AA08720}">
      <dgm:prSet/>
      <dgm:spPr/>
      <dgm:t>
        <a:bodyPr/>
        <a:lstStyle/>
        <a:p>
          <a:endParaRPr lang="en-US"/>
        </a:p>
      </dgm:t>
    </dgm:pt>
    <dgm:pt modelId="{15B00179-4D9B-48CB-8179-37BC51D171C0}">
      <dgm:prSet/>
      <dgm:spPr/>
      <dgm:t>
        <a:bodyPr/>
        <a:lstStyle/>
        <a:p>
          <a:pPr>
            <a:lnSpc>
              <a:spcPct val="100000"/>
            </a:lnSpc>
            <a:defRPr cap="all"/>
          </a:pPr>
          <a:r>
            <a:rPr lang="en-GB"/>
            <a:t>Close: The closing price of the stock on that date. </a:t>
          </a:r>
          <a:endParaRPr lang="en-US"/>
        </a:p>
      </dgm:t>
    </dgm:pt>
    <dgm:pt modelId="{D4112246-C397-4CC9-A30A-D9E885054AED}" type="parTrans" cxnId="{38F5B7A4-D27B-499D-B638-44D5A0CC30F1}">
      <dgm:prSet/>
      <dgm:spPr/>
      <dgm:t>
        <a:bodyPr/>
        <a:lstStyle/>
        <a:p>
          <a:endParaRPr lang="en-US"/>
        </a:p>
      </dgm:t>
    </dgm:pt>
    <dgm:pt modelId="{EBB14EBB-7E8A-481F-B12C-30C0E1E120F3}" type="sibTrans" cxnId="{38F5B7A4-D27B-499D-B638-44D5A0CC30F1}">
      <dgm:prSet/>
      <dgm:spPr/>
      <dgm:t>
        <a:bodyPr/>
        <a:lstStyle/>
        <a:p>
          <a:endParaRPr lang="en-US"/>
        </a:p>
      </dgm:t>
    </dgm:pt>
    <dgm:pt modelId="{D11A7E66-2BF9-47BE-B9C7-05F0A981EE55}">
      <dgm:prSet/>
      <dgm:spPr/>
      <dgm:t>
        <a:bodyPr/>
        <a:lstStyle/>
        <a:p>
          <a:pPr>
            <a:lnSpc>
              <a:spcPct val="100000"/>
            </a:lnSpc>
            <a:defRPr cap="all"/>
          </a:pPr>
          <a:r>
            <a:rPr lang="en-GB"/>
            <a:t>Volume: The number of shares traded on that date. </a:t>
          </a:r>
          <a:endParaRPr lang="en-US"/>
        </a:p>
      </dgm:t>
    </dgm:pt>
    <dgm:pt modelId="{D34198F7-370A-4462-ADDB-D2771FC7E0D9}" type="parTrans" cxnId="{99105453-118A-4509-A6BF-273A09C70805}">
      <dgm:prSet/>
      <dgm:spPr/>
      <dgm:t>
        <a:bodyPr/>
        <a:lstStyle/>
        <a:p>
          <a:endParaRPr lang="en-US"/>
        </a:p>
      </dgm:t>
    </dgm:pt>
    <dgm:pt modelId="{75CADA51-14EE-4A71-8F4B-769D763D00A2}" type="sibTrans" cxnId="{99105453-118A-4509-A6BF-273A09C70805}">
      <dgm:prSet/>
      <dgm:spPr/>
      <dgm:t>
        <a:bodyPr/>
        <a:lstStyle/>
        <a:p>
          <a:endParaRPr lang="en-US"/>
        </a:p>
      </dgm:t>
    </dgm:pt>
    <dgm:pt modelId="{EFF12601-A906-4D3E-B537-794131FBE223}" type="pres">
      <dgm:prSet presAssocID="{2A23031F-9ACB-4048-929F-F98435A2DBA3}" presName="root" presStyleCnt="0">
        <dgm:presLayoutVars>
          <dgm:dir/>
          <dgm:resizeHandles val="exact"/>
        </dgm:presLayoutVars>
      </dgm:prSet>
      <dgm:spPr/>
    </dgm:pt>
    <dgm:pt modelId="{6347C0AC-A0B0-4163-889F-A4D63BA69337}" type="pres">
      <dgm:prSet presAssocID="{C57416B2-8D84-47F4-AA06-FE31C07C85B1}" presName="compNode" presStyleCnt="0"/>
      <dgm:spPr/>
    </dgm:pt>
    <dgm:pt modelId="{7894B8B2-AB46-483E-865F-27AF032812F2}" type="pres">
      <dgm:prSet presAssocID="{C57416B2-8D84-47F4-AA06-FE31C07C85B1}" presName="iconBgRect" presStyleLbl="bgShp" presStyleIdx="0" presStyleCnt="8"/>
      <dgm:spPr/>
    </dgm:pt>
    <dgm:pt modelId="{7DF6F89E-C591-4184-8945-D415FDAE9AD7}" type="pres">
      <dgm:prSet presAssocID="{C57416B2-8D84-47F4-AA06-FE31C07C85B1}"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pple"/>
        </a:ext>
      </dgm:extLst>
    </dgm:pt>
    <dgm:pt modelId="{4C39DE42-2196-44D6-BE18-54E3C7C09839}" type="pres">
      <dgm:prSet presAssocID="{C57416B2-8D84-47F4-AA06-FE31C07C85B1}" presName="spaceRect" presStyleCnt="0"/>
      <dgm:spPr/>
    </dgm:pt>
    <dgm:pt modelId="{E4D6C4B3-43C2-4354-A43A-063D2E63CA68}" type="pres">
      <dgm:prSet presAssocID="{C57416B2-8D84-47F4-AA06-FE31C07C85B1}" presName="textRect" presStyleLbl="revTx" presStyleIdx="0" presStyleCnt="8">
        <dgm:presLayoutVars>
          <dgm:chMax val="1"/>
          <dgm:chPref val="1"/>
        </dgm:presLayoutVars>
      </dgm:prSet>
      <dgm:spPr/>
    </dgm:pt>
    <dgm:pt modelId="{EA564278-164A-4E4D-A3CE-AD005ADAED40}" type="pres">
      <dgm:prSet presAssocID="{C86E9E06-0828-451B-A4B3-0D41197AF662}" presName="sibTrans" presStyleCnt="0"/>
      <dgm:spPr/>
    </dgm:pt>
    <dgm:pt modelId="{F81C4A17-8D81-4AF1-9415-A4A43DB4A567}" type="pres">
      <dgm:prSet presAssocID="{B4A2D2C5-F382-42CF-91F4-98597B2A1670}" presName="compNode" presStyleCnt="0"/>
      <dgm:spPr/>
    </dgm:pt>
    <dgm:pt modelId="{2EC38F39-6FDB-4BCF-B58E-0B2A1787454A}" type="pres">
      <dgm:prSet presAssocID="{B4A2D2C5-F382-42CF-91F4-98597B2A1670}" presName="iconBgRect" presStyleLbl="bgShp" presStyleIdx="1" presStyleCnt="8"/>
      <dgm:spPr/>
    </dgm:pt>
    <dgm:pt modelId="{A41150AB-D781-4452-8EF5-C69E6DCB0EA8}" type="pres">
      <dgm:prSet presAssocID="{B4A2D2C5-F382-42CF-91F4-98597B2A1670}"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6DC31BF0-43EF-47FC-8A12-C7304BF21A4F}" type="pres">
      <dgm:prSet presAssocID="{B4A2D2C5-F382-42CF-91F4-98597B2A1670}" presName="spaceRect" presStyleCnt="0"/>
      <dgm:spPr/>
    </dgm:pt>
    <dgm:pt modelId="{EBB52CF3-AC6E-403B-898B-5E27FFC57862}" type="pres">
      <dgm:prSet presAssocID="{B4A2D2C5-F382-42CF-91F4-98597B2A1670}" presName="textRect" presStyleLbl="revTx" presStyleIdx="1" presStyleCnt="8">
        <dgm:presLayoutVars>
          <dgm:chMax val="1"/>
          <dgm:chPref val="1"/>
        </dgm:presLayoutVars>
      </dgm:prSet>
      <dgm:spPr/>
    </dgm:pt>
    <dgm:pt modelId="{C60B8A37-81C2-4B8E-B6BF-15F2365D6D92}" type="pres">
      <dgm:prSet presAssocID="{8E916B58-A384-4105-83A8-9882DCEFDDEC}" presName="sibTrans" presStyleCnt="0"/>
      <dgm:spPr/>
    </dgm:pt>
    <dgm:pt modelId="{0D4B1A2D-4084-43F9-8DAE-584F64E26515}" type="pres">
      <dgm:prSet presAssocID="{B5567CE4-52BE-4572-B7A1-8A31072F494F}" presName="compNode" presStyleCnt="0"/>
      <dgm:spPr/>
    </dgm:pt>
    <dgm:pt modelId="{0C4F923D-83D4-40B4-ADA2-1554F8B7B3F5}" type="pres">
      <dgm:prSet presAssocID="{B5567CE4-52BE-4572-B7A1-8A31072F494F}" presName="iconBgRect" presStyleLbl="bgShp" presStyleIdx="2" presStyleCnt="8"/>
      <dgm:spPr/>
    </dgm:pt>
    <dgm:pt modelId="{B080BC3C-18D7-4263-9A5C-21F120A00B70}" type="pres">
      <dgm:prSet presAssocID="{B5567CE4-52BE-4572-B7A1-8A31072F494F}"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oney"/>
        </a:ext>
      </dgm:extLst>
    </dgm:pt>
    <dgm:pt modelId="{20ECDAC4-35DB-4ACD-9798-50DC78E86DA4}" type="pres">
      <dgm:prSet presAssocID="{B5567CE4-52BE-4572-B7A1-8A31072F494F}" presName="spaceRect" presStyleCnt="0"/>
      <dgm:spPr/>
    </dgm:pt>
    <dgm:pt modelId="{A8D9C84D-ADA2-4011-876E-29F5AD5FB159}" type="pres">
      <dgm:prSet presAssocID="{B5567CE4-52BE-4572-B7A1-8A31072F494F}" presName="textRect" presStyleLbl="revTx" presStyleIdx="2" presStyleCnt="8">
        <dgm:presLayoutVars>
          <dgm:chMax val="1"/>
          <dgm:chPref val="1"/>
        </dgm:presLayoutVars>
      </dgm:prSet>
      <dgm:spPr/>
    </dgm:pt>
    <dgm:pt modelId="{ACAC16B7-B116-4475-B6FC-BD0A8F436566}" type="pres">
      <dgm:prSet presAssocID="{9ADDAD3C-531B-4F03-AFB9-9702A0FB392A}" presName="sibTrans" presStyleCnt="0"/>
      <dgm:spPr/>
    </dgm:pt>
    <dgm:pt modelId="{A37361BB-D963-49DB-B5ED-89260990806B}" type="pres">
      <dgm:prSet presAssocID="{FDF77A38-806D-4E7B-A034-F68E1905FCBD}" presName="compNode" presStyleCnt="0"/>
      <dgm:spPr/>
    </dgm:pt>
    <dgm:pt modelId="{5D40EA59-B460-40C7-8D97-572357920FF0}" type="pres">
      <dgm:prSet presAssocID="{FDF77A38-806D-4E7B-A034-F68E1905FCBD}" presName="iconBgRect" presStyleLbl="bgShp" presStyleIdx="3" presStyleCnt="8"/>
      <dgm:spPr/>
    </dgm:pt>
    <dgm:pt modelId="{F8A8E8DC-89C2-43DF-BD66-DBA419EE37EC}" type="pres">
      <dgm:prSet presAssocID="{FDF77A38-806D-4E7B-A034-F68E1905FCBD}"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aily Calendar"/>
        </a:ext>
      </dgm:extLst>
    </dgm:pt>
    <dgm:pt modelId="{1F77AF8D-C625-4B76-8CDC-F1EB544A5DAC}" type="pres">
      <dgm:prSet presAssocID="{FDF77A38-806D-4E7B-A034-F68E1905FCBD}" presName="spaceRect" presStyleCnt="0"/>
      <dgm:spPr/>
    </dgm:pt>
    <dgm:pt modelId="{98A3953E-5397-482A-B9C7-030036D28094}" type="pres">
      <dgm:prSet presAssocID="{FDF77A38-806D-4E7B-A034-F68E1905FCBD}" presName="textRect" presStyleLbl="revTx" presStyleIdx="3" presStyleCnt="8">
        <dgm:presLayoutVars>
          <dgm:chMax val="1"/>
          <dgm:chPref val="1"/>
        </dgm:presLayoutVars>
      </dgm:prSet>
      <dgm:spPr/>
    </dgm:pt>
    <dgm:pt modelId="{F596334E-7D9A-4D79-B9A2-0E78D49389BA}" type="pres">
      <dgm:prSet presAssocID="{8756F72E-9DF4-42F4-8323-A19A68DE3563}" presName="sibTrans" presStyleCnt="0"/>
      <dgm:spPr/>
    </dgm:pt>
    <dgm:pt modelId="{A2A0630B-3EB4-466F-87DA-CE06A97C8654}" type="pres">
      <dgm:prSet presAssocID="{C589BDE5-002F-4884-8335-6FEF3E3C14F7}" presName="compNode" presStyleCnt="0"/>
      <dgm:spPr/>
    </dgm:pt>
    <dgm:pt modelId="{B4A01148-79E8-4FAC-B68E-C040445177A4}" type="pres">
      <dgm:prSet presAssocID="{C589BDE5-002F-4884-8335-6FEF3E3C14F7}" presName="iconBgRect" presStyleLbl="bgShp" presStyleIdx="4" presStyleCnt="8"/>
      <dgm:spPr/>
    </dgm:pt>
    <dgm:pt modelId="{EDC6F6F5-8F27-4901-B7C9-5219E422D6EB}" type="pres">
      <dgm:prSet presAssocID="{C589BDE5-002F-4884-8335-6FEF3E3C14F7}"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ar Graph with Upward Trend"/>
        </a:ext>
      </dgm:extLst>
    </dgm:pt>
    <dgm:pt modelId="{0C594C7E-E43D-428A-B763-BFFCF4348685}" type="pres">
      <dgm:prSet presAssocID="{C589BDE5-002F-4884-8335-6FEF3E3C14F7}" presName="spaceRect" presStyleCnt="0"/>
      <dgm:spPr/>
    </dgm:pt>
    <dgm:pt modelId="{FBDC700D-5D3C-4230-A9B7-3A6575638429}" type="pres">
      <dgm:prSet presAssocID="{C589BDE5-002F-4884-8335-6FEF3E3C14F7}" presName="textRect" presStyleLbl="revTx" presStyleIdx="4" presStyleCnt="8">
        <dgm:presLayoutVars>
          <dgm:chMax val="1"/>
          <dgm:chPref val="1"/>
        </dgm:presLayoutVars>
      </dgm:prSet>
      <dgm:spPr/>
    </dgm:pt>
    <dgm:pt modelId="{3C41D7A6-5937-41E3-A250-ED840143FD3E}" type="pres">
      <dgm:prSet presAssocID="{3F5E7CD6-11B5-44DE-B1FA-6516BDE6C91D}" presName="sibTrans" presStyleCnt="0"/>
      <dgm:spPr/>
    </dgm:pt>
    <dgm:pt modelId="{F2089D0A-5E6E-4B60-99F7-B756AF0F57B2}" type="pres">
      <dgm:prSet presAssocID="{57805465-B111-4CAA-AA44-BF84E99CBEE1}" presName="compNode" presStyleCnt="0"/>
      <dgm:spPr/>
    </dgm:pt>
    <dgm:pt modelId="{40AD70CC-36E5-4F76-8408-625873D1416C}" type="pres">
      <dgm:prSet presAssocID="{57805465-B111-4CAA-AA44-BF84E99CBEE1}" presName="iconBgRect" presStyleLbl="bgShp" presStyleIdx="5" presStyleCnt="8"/>
      <dgm:spPr/>
    </dgm:pt>
    <dgm:pt modelId="{38134BD7-6B57-4AE9-A4C2-75812228504B}" type="pres">
      <dgm:prSet presAssocID="{57805465-B111-4CAA-AA44-BF84E99CBEE1}"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Downward trend"/>
        </a:ext>
      </dgm:extLst>
    </dgm:pt>
    <dgm:pt modelId="{C48D65E5-AC99-4B2A-B85A-C22A090CA126}" type="pres">
      <dgm:prSet presAssocID="{57805465-B111-4CAA-AA44-BF84E99CBEE1}" presName="spaceRect" presStyleCnt="0"/>
      <dgm:spPr/>
    </dgm:pt>
    <dgm:pt modelId="{0A3B68F2-D6A4-4D45-ABF7-A5437C3534E8}" type="pres">
      <dgm:prSet presAssocID="{57805465-B111-4CAA-AA44-BF84E99CBEE1}" presName="textRect" presStyleLbl="revTx" presStyleIdx="5" presStyleCnt="8">
        <dgm:presLayoutVars>
          <dgm:chMax val="1"/>
          <dgm:chPref val="1"/>
        </dgm:presLayoutVars>
      </dgm:prSet>
      <dgm:spPr/>
    </dgm:pt>
    <dgm:pt modelId="{05D33854-61D9-4D00-97A5-82AA77805E1E}" type="pres">
      <dgm:prSet presAssocID="{9A8BA285-E44C-461B-BF2F-74629F99A056}" presName="sibTrans" presStyleCnt="0"/>
      <dgm:spPr/>
    </dgm:pt>
    <dgm:pt modelId="{FF3C5B60-8B3F-43AC-B78E-95224BC39151}" type="pres">
      <dgm:prSet presAssocID="{15B00179-4D9B-48CB-8179-37BC51D171C0}" presName="compNode" presStyleCnt="0"/>
      <dgm:spPr/>
    </dgm:pt>
    <dgm:pt modelId="{6CC9119D-07FF-40E0-9E2C-55EC974E07BF}" type="pres">
      <dgm:prSet presAssocID="{15B00179-4D9B-48CB-8179-37BC51D171C0}" presName="iconBgRect" presStyleLbl="bgShp" presStyleIdx="6" presStyleCnt="8"/>
      <dgm:spPr/>
    </dgm:pt>
    <dgm:pt modelId="{A06ACBA0-78EB-4729-89DA-37088268DB5F}" type="pres">
      <dgm:prSet presAssocID="{15B00179-4D9B-48CB-8179-37BC51D171C0}"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Yuan"/>
        </a:ext>
      </dgm:extLst>
    </dgm:pt>
    <dgm:pt modelId="{9F94481A-3CCE-4AB1-8000-912183E85DA3}" type="pres">
      <dgm:prSet presAssocID="{15B00179-4D9B-48CB-8179-37BC51D171C0}" presName="spaceRect" presStyleCnt="0"/>
      <dgm:spPr/>
    </dgm:pt>
    <dgm:pt modelId="{02C09172-D7CA-4569-B721-E42BAA8E164C}" type="pres">
      <dgm:prSet presAssocID="{15B00179-4D9B-48CB-8179-37BC51D171C0}" presName="textRect" presStyleLbl="revTx" presStyleIdx="6" presStyleCnt="8">
        <dgm:presLayoutVars>
          <dgm:chMax val="1"/>
          <dgm:chPref val="1"/>
        </dgm:presLayoutVars>
      </dgm:prSet>
      <dgm:spPr/>
    </dgm:pt>
    <dgm:pt modelId="{F95C67D8-38F2-4DB2-A2EC-36B1642DF736}" type="pres">
      <dgm:prSet presAssocID="{EBB14EBB-7E8A-481F-B12C-30C0E1E120F3}" presName="sibTrans" presStyleCnt="0"/>
      <dgm:spPr/>
    </dgm:pt>
    <dgm:pt modelId="{38173969-898B-46B6-A0C0-EDA16B9A2356}" type="pres">
      <dgm:prSet presAssocID="{D11A7E66-2BF9-47BE-B9C7-05F0A981EE55}" presName="compNode" presStyleCnt="0"/>
      <dgm:spPr/>
    </dgm:pt>
    <dgm:pt modelId="{497925ED-AF7D-4952-8843-5FF77D2FF9A5}" type="pres">
      <dgm:prSet presAssocID="{D11A7E66-2BF9-47BE-B9C7-05F0A981EE55}" presName="iconBgRect" presStyleLbl="bgShp" presStyleIdx="7" presStyleCnt="8"/>
      <dgm:spPr/>
    </dgm:pt>
    <dgm:pt modelId="{D07B9DF2-9418-4BE4-B84E-C297953E5BEE}" type="pres">
      <dgm:prSet presAssocID="{D11A7E66-2BF9-47BE-B9C7-05F0A981EE55}"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Upward trend"/>
        </a:ext>
      </dgm:extLst>
    </dgm:pt>
    <dgm:pt modelId="{45CBAA2C-E14D-4ADB-907E-EE9F9885AA5A}" type="pres">
      <dgm:prSet presAssocID="{D11A7E66-2BF9-47BE-B9C7-05F0A981EE55}" presName="spaceRect" presStyleCnt="0"/>
      <dgm:spPr/>
    </dgm:pt>
    <dgm:pt modelId="{A86704BB-958D-4286-8CAD-A624EF1B77C9}" type="pres">
      <dgm:prSet presAssocID="{D11A7E66-2BF9-47BE-B9C7-05F0A981EE55}" presName="textRect" presStyleLbl="revTx" presStyleIdx="7" presStyleCnt="8">
        <dgm:presLayoutVars>
          <dgm:chMax val="1"/>
          <dgm:chPref val="1"/>
        </dgm:presLayoutVars>
      </dgm:prSet>
      <dgm:spPr/>
    </dgm:pt>
  </dgm:ptLst>
  <dgm:cxnLst>
    <dgm:cxn modelId="{5658AF18-737C-46B8-AEFB-7F009AA08720}" srcId="{2A23031F-9ACB-4048-929F-F98435A2DBA3}" destId="{57805465-B111-4CAA-AA44-BF84E99CBEE1}" srcOrd="5" destOrd="0" parTransId="{C3DF6324-9BDB-4D34-8A39-5D9FD6A3F5F3}" sibTransId="{9A8BA285-E44C-461B-BF2F-74629F99A056}"/>
    <dgm:cxn modelId="{83B2BE33-D60E-4696-8D78-9547E7592656}" type="presOf" srcId="{C57416B2-8D84-47F4-AA06-FE31C07C85B1}" destId="{E4D6C4B3-43C2-4354-A43A-063D2E63CA68}" srcOrd="0" destOrd="0" presId="urn:microsoft.com/office/officeart/2018/5/layout/IconCircleLabelList"/>
    <dgm:cxn modelId="{61D71C40-0E7C-4BCC-8892-B6143058AD5A}" type="presOf" srcId="{C589BDE5-002F-4884-8335-6FEF3E3C14F7}" destId="{FBDC700D-5D3C-4230-A9B7-3A6575638429}" srcOrd="0" destOrd="0" presId="urn:microsoft.com/office/officeart/2018/5/layout/IconCircleLabelList"/>
    <dgm:cxn modelId="{31220547-AE58-4562-AE31-30BE9FE33A23}" srcId="{2A23031F-9ACB-4048-929F-F98435A2DBA3}" destId="{B5567CE4-52BE-4572-B7A1-8A31072F494F}" srcOrd="2" destOrd="0" parTransId="{5D41D4E0-669A-4214-91F9-6B0FCB5DB757}" sibTransId="{9ADDAD3C-531B-4F03-AFB9-9702A0FB392A}"/>
    <dgm:cxn modelId="{4E14E448-88DD-463F-9F59-5CFE440ADE3A}" srcId="{2A23031F-9ACB-4048-929F-F98435A2DBA3}" destId="{FDF77A38-806D-4E7B-A034-F68E1905FCBD}" srcOrd="3" destOrd="0" parTransId="{BBBD301A-D625-4D79-B027-F9E88E670F39}" sibTransId="{8756F72E-9DF4-42F4-8323-A19A68DE3563}"/>
    <dgm:cxn modelId="{886A1E6C-61DC-4203-B9D0-D7E41E5568B9}" type="presOf" srcId="{2A23031F-9ACB-4048-929F-F98435A2DBA3}" destId="{EFF12601-A906-4D3E-B537-794131FBE223}" srcOrd="0" destOrd="0" presId="urn:microsoft.com/office/officeart/2018/5/layout/IconCircleLabelList"/>
    <dgm:cxn modelId="{1D5C134D-DB29-4663-B948-D10D8A4376FF}" srcId="{2A23031F-9ACB-4048-929F-F98435A2DBA3}" destId="{C57416B2-8D84-47F4-AA06-FE31C07C85B1}" srcOrd="0" destOrd="0" parTransId="{48BABF1A-8365-486C-B42E-8F3476FBA20A}" sibTransId="{C86E9E06-0828-451B-A4B3-0D41197AF662}"/>
    <dgm:cxn modelId="{065EAC4F-D2BF-451D-B3AE-C91566856078}" type="presOf" srcId="{B4A2D2C5-F382-42CF-91F4-98597B2A1670}" destId="{EBB52CF3-AC6E-403B-898B-5E27FFC57862}" srcOrd="0" destOrd="0" presId="urn:microsoft.com/office/officeart/2018/5/layout/IconCircleLabelList"/>
    <dgm:cxn modelId="{021F3050-7655-46EA-A47D-D3F35C404D8A}" type="presOf" srcId="{D11A7E66-2BF9-47BE-B9C7-05F0A981EE55}" destId="{A86704BB-958D-4286-8CAD-A624EF1B77C9}" srcOrd="0" destOrd="0" presId="urn:microsoft.com/office/officeart/2018/5/layout/IconCircleLabelList"/>
    <dgm:cxn modelId="{99105453-118A-4509-A6BF-273A09C70805}" srcId="{2A23031F-9ACB-4048-929F-F98435A2DBA3}" destId="{D11A7E66-2BF9-47BE-B9C7-05F0A981EE55}" srcOrd="7" destOrd="0" parTransId="{D34198F7-370A-4462-ADDB-D2771FC7E0D9}" sibTransId="{75CADA51-14EE-4A71-8F4B-769D763D00A2}"/>
    <dgm:cxn modelId="{8BE08E98-6D19-4F58-A237-693F374D7142}" srcId="{2A23031F-9ACB-4048-929F-F98435A2DBA3}" destId="{C589BDE5-002F-4884-8335-6FEF3E3C14F7}" srcOrd="4" destOrd="0" parTransId="{27401FD8-990D-407D-B14C-99102664132D}" sibTransId="{3F5E7CD6-11B5-44DE-B1FA-6516BDE6C91D}"/>
    <dgm:cxn modelId="{38F5B7A4-D27B-499D-B638-44D5A0CC30F1}" srcId="{2A23031F-9ACB-4048-929F-F98435A2DBA3}" destId="{15B00179-4D9B-48CB-8179-37BC51D171C0}" srcOrd="6" destOrd="0" parTransId="{D4112246-C397-4CC9-A30A-D9E885054AED}" sibTransId="{EBB14EBB-7E8A-481F-B12C-30C0E1E120F3}"/>
    <dgm:cxn modelId="{A6EE66B1-D697-4720-A997-E837AA8C5621}" type="presOf" srcId="{B5567CE4-52BE-4572-B7A1-8A31072F494F}" destId="{A8D9C84D-ADA2-4011-876E-29F5AD5FB159}" srcOrd="0" destOrd="0" presId="urn:microsoft.com/office/officeart/2018/5/layout/IconCircleLabelList"/>
    <dgm:cxn modelId="{98B6BDEC-A233-4EB7-9CF7-61F2993F5C92}" type="presOf" srcId="{57805465-B111-4CAA-AA44-BF84E99CBEE1}" destId="{0A3B68F2-D6A4-4D45-ABF7-A5437C3534E8}" srcOrd="0" destOrd="0" presId="urn:microsoft.com/office/officeart/2018/5/layout/IconCircleLabelList"/>
    <dgm:cxn modelId="{92F856EF-9D59-4BC2-99FB-686807AD389B}" type="presOf" srcId="{15B00179-4D9B-48CB-8179-37BC51D171C0}" destId="{02C09172-D7CA-4569-B721-E42BAA8E164C}" srcOrd="0" destOrd="0" presId="urn:microsoft.com/office/officeart/2018/5/layout/IconCircleLabelList"/>
    <dgm:cxn modelId="{E6103DF7-CDF0-42E8-A228-A4307C585246}" srcId="{2A23031F-9ACB-4048-929F-F98435A2DBA3}" destId="{B4A2D2C5-F382-42CF-91F4-98597B2A1670}" srcOrd="1" destOrd="0" parTransId="{DEE69817-24BC-445A-B0AA-54410B6073BC}" sibTransId="{8E916B58-A384-4105-83A8-9882DCEFDDEC}"/>
    <dgm:cxn modelId="{379D2CFD-4AF7-46A0-A206-38313CD6B8E1}" type="presOf" srcId="{FDF77A38-806D-4E7B-A034-F68E1905FCBD}" destId="{98A3953E-5397-482A-B9C7-030036D28094}" srcOrd="0" destOrd="0" presId="urn:microsoft.com/office/officeart/2018/5/layout/IconCircleLabelList"/>
    <dgm:cxn modelId="{0EB4E9FE-A445-4FFA-9570-55575C8A6E56}" type="presParOf" srcId="{EFF12601-A906-4D3E-B537-794131FBE223}" destId="{6347C0AC-A0B0-4163-889F-A4D63BA69337}" srcOrd="0" destOrd="0" presId="urn:microsoft.com/office/officeart/2018/5/layout/IconCircleLabelList"/>
    <dgm:cxn modelId="{3A4B7053-72C0-4ED4-AFE6-5DA94287F0CE}" type="presParOf" srcId="{6347C0AC-A0B0-4163-889F-A4D63BA69337}" destId="{7894B8B2-AB46-483E-865F-27AF032812F2}" srcOrd="0" destOrd="0" presId="urn:microsoft.com/office/officeart/2018/5/layout/IconCircleLabelList"/>
    <dgm:cxn modelId="{C8A12503-199B-40E4-96AE-00F18BE1F3CD}" type="presParOf" srcId="{6347C0AC-A0B0-4163-889F-A4D63BA69337}" destId="{7DF6F89E-C591-4184-8945-D415FDAE9AD7}" srcOrd="1" destOrd="0" presId="urn:microsoft.com/office/officeart/2018/5/layout/IconCircleLabelList"/>
    <dgm:cxn modelId="{F874116D-69A9-4F08-9AA7-07B41378A44D}" type="presParOf" srcId="{6347C0AC-A0B0-4163-889F-A4D63BA69337}" destId="{4C39DE42-2196-44D6-BE18-54E3C7C09839}" srcOrd="2" destOrd="0" presId="urn:microsoft.com/office/officeart/2018/5/layout/IconCircleLabelList"/>
    <dgm:cxn modelId="{8FEC2216-C3E8-4412-AE0E-DE50FEF924E4}" type="presParOf" srcId="{6347C0AC-A0B0-4163-889F-A4D63BA69337}" destId="{E4D6C4B3-43C2-4354-A43A-063D2E63CA68}" srcOrd="3" destOrd="0" presId="urn:microsoft.com/office/officeart/2018/5/layout/IconCircleLabelList"/>
    <dgm:cxn modelId="{5525F114-E592-4DDE-BEF9-A530BD05A20A}" type="presParOf" srcId="{EFF12601-A906-4D3E-B537-794131FBE223}" destId="{EA564278-164A-4E4D-A3CE-AD005ADAED40}" srcOrd="1" destOrd="0" presId="urn:microsoft.com/office/officeart/2018/5/layout/IconCircleLabelList"/>
    <dgm:cxn modelId="{EBB63D11-95CA-47C9-B4D9-117FF2928A57}" type="presParOf" srcId="{EFF12601-A906-4D3E-B537-794131FBE223}" destId="{F81C4A17-8D81-4AF1-9415-A4A43DB4A567}" srcOrd="2" destOrd="0" presId="urn:microsoft.com/office/officeart/2018/5/layout/IconCircleLabelList"/>
    <dgm:cxn modelId="{C8A7901E-E258-4C1D-B43D-4D7CE8669B2C}" type="presParOf" srcId="{F81C4A17-8D81-4AF1-9415-A4A43DB4A567}" destId="{2EC38F39-6FDB-4BCF-B58E-0B2A1787454A}" srcOrd="0" destOrd="0" presId="urn:microsoft.com/office/officeart/2018/5/layout/IconCircleLabelList"/>
    <dgm:cxn modelId="{8231B6B5-9F93-4C59-8339-CF38ABA251EA}" type="presParOf" srcId="{F81C4A17-8D81-4AF1-9415-A4A43DB4A567}" destId="{A41150AB-D781-4452-8EF5-C69E6DCB0EA8}" srcOrd="1" destOrd="0" presId="urn:microsoft.com/office/officeart/2018/5/layout/IconCircleLabelList"/>
    <dgm:cxn modelId="{48727D05-EAD7-4D0D-AF85-CA50B397A6D9}" type="presParOf" srcId="{F81C4A17-8D81-4AF1-9415-A4A43DB4A567}" destId="{6DC31BF0-43EF-47FC-8A12-C7304BF21A4F}" srcOrd="2" destOrd="0" presId="urn:microsoft.com/office/officeart/2018/5/layout/IconCircleLabelList"/>
    <dgm:cxn modelId="{2D5D134B-2926-47AD-8C25-2E2824764ABB}" type="presParOf" srcId="{F81C4A17-8D81-4AF1-9415-A4A43DB4A567}" destId="{EBB52CF3-AC6E-403B-898B-5E27FFC57862}" srcOrd="3" destOrd="0" presId="urn:microsoft.com/office/officeart/2018/5/layout/IconCircleLabelList"/>
    <dgm:cxn modelId="{5AB03ED3-7471-4AB8-9A33-4CA58DA4EF1D}" type="presParOf" srcId="{EFF12601-A906-4D3E-B537-794131FBE223}" destId="{C60B8A37-81C2-4B8E-B6BF-15F2365D6D92}" srcOrd="3" destOrd="0" presId="urn:microsoft.com/office/officeart/2018/5/layout/IconCircleLabelList"/>
    <dgm:cxn modelId="{098CB634-573D-4221-9C7C-90A6C397C82D}" type="presParOf" srcId="{EFF12601-A906-4D3E-B537-794131FBE223}" destId="{0D4B1A2D-4084-43F9-8DAE-584F64E26515}" srcOrd="4" destOrd="0" presId="urn:microsoft.com/office/officeart/2018/5/layout/IconCircleLabelList"/>
    <dgm:cxn modelId="{4E2D86A0-29AB-4DC4-99EF-50D62A44AD93}" type="presParOf" srcId="{0D4B1A2D-4084-43F9-8DAE-584F64E26515}" destId="{0C4F923D-83D4-40B4-ADA2-1554F8B7B3F5}" srcOrd="0" destOrd="0" presId="urn:microsoft.com/office/officeart/2018/5/layout/IconCircleLabelList"/>
    <dgm:cxn modelId="{5A8C5EB3-1406-40EB-B46B-F33442D79CDC}" type="presParOf" srcId="{0D4B1A2D-4084-43F9-8DAE-584F64E26515}" destId="{B080BC3C-18D7-4263-9A5C-21F120A00B70}" srcOrd="1" destOrd="0" presId="urn:microsoft.com/office/officeart/2018/5/layout/IconCircleLabelList"/>
    <dgm:cxn modelId="{A2D3E338-C570-4034-B969-8F75A6EDB7F3}" type="presParOf" srcId="{0D4B1A2D-4084-43F9-8DAE-584F64E26515}" destId="{20ECDAC4-35DB-4ACD-9798-50DC78E86DA4}" srcOrd="2" destOrd="0" presId="urn:microsoft.com/office/officeart/2018/5/layout/IconCircleLabelList"/>
    <dgm:cxn modelId="{7999392A-A4A2-468B-9E75-E3F5B6119A0E}" type="presParOf" srcId="{0D4B1A2D-4084-43F9-8DAE-584F64E26515}" destId="{A8D9C84D-ADA2-4011-876E-29F5AD5FB159}" srcOrd="3" destOrd="0" presId="urn:microsoft.com/office/officeart/2018/5/layout/IconCircleLabelList"/>
    <dgm:cxn modelId="{280959EE-34AF-4BEF-9219-0ECCCE966151}" type="presParOf" srcId="{EFF12601-A906-4D3E-B537-794131FBE223}" destId="{ACAC16B7-B116-4475-B6FC-BD0A8F436566}" srcOrd="5" destOrd="0" presId="urn:microsoft.com/office/officeart/2018/5/layout/IconCircleLabelList"/>
    <dgm:cxn modelId="{9A17FEBD-AF9E-42D3-8BCB-E8155A106C1A}" type="presParOf" srcId="{EFF12601-A906-4D3E-B537-794131FBE223}" destId="{A37361BB-D963-49DB-B5ED-89260990806B}" srcOrd="6" destOrd="0" presId="urn:microsoft.com/office/officeart/2018/5/layout/IconCircleLabelList"/>
    <dgm:cxn modelId="{9AA8E3DF-5173-4D1F-87E9-CA0B7D2185A4}" type="presParOf" srcId="{A37361BB-D963-49DB-B5ED-89260990806B}" destId="{5D40EA59-B460-40C7-8D97-572357920FF0}" srcOrd="0" destOrd="0" presId="urn:microsoft.com/office/officeart/2018/5/layout/IconCircleLabelList"/>
    <dgm:cxn modelId="{59B58124-A85C-4497-BCEA-23B456AEFBD6}" type="presParOf" srcId="{A37361BB-D963-49DB-B5ED-89260990806B}" destId="{F8A8E8DC-89C2-43DF-BD66-DBA419EE37EC}" srcOrd="1" destOrd="0" presId="urn:microsoft.com/office/officeart/2018/5/layout/IconCircleLabelList"/>
    <dgm:cxn modelId="{4D3D318B-03C9-4230-909D-FA25F7E241CA}" type="presParOf" srcId="{A37361BB-D963-49DB-B5ED-89260990806B}" destId="{1F77AF8D-C625-4B76-8CDC-F1EB544A5DAC}" srcOrd="2" destOrd="0" presId="urn:microsoft.com/office/officeart/2018/5/layout/IconCircleLabelList"/>
    <dgm:cxn modelId="{B7476FF7-A87E-4E36-B586-4CE57385C0A3}" type="presParOf" srcId="{A37361BB-D963-49DB-B5ED-89260990806B}" destId="{98A3953E-5397-482A-B9C7-030036D28094}" srcOrd="3" destOrd="0" presId="urn:microsoft.com/office/officeart/2018/5/layout/IconCircleLabelList"/>
    <dgm:cxn modelId="{51FF8E8E-2652-4A00-A040-14D46489FFE1}" type="presParOf" srcId="{EFF12601-A906-4D3E-B537-794131FBE223}" destId="{F596334E-7D9A-4D79-B9A2-0E78D49389BA}" srcOrd="7" destOrd="0" presId="urn:microsoft.com/office/officeart/2018/5/layout/IconCircleLabelList"/>
    <dgm:cxn modelId="{1BB0C09B-8E57-4C33-8476-85572544A6E2}" type="presParOf" srcId="{EFF12601-A906-4D3E-B537-794131FBE223}" destId="{A2A0630B-3EB4-466F-87DA-CE06A97C8654}" srcOrd="8" destOrd="0" presId="urn:microsoft.com/office/officeart/2018/5/layout/IconCircleLabelList"/>
    <dgm:cxn modelId="{D7375785-C7B5-46CA-9C5C-737D395B1169}" type="presParOf" srcId="{A2A0630B-3EB4-466F-87DA-CE06A97C8654}" destId="{B4A01148-79E8-4FAC-B68E-C040445177A4}" srcOrd="0" destOrd="0" presId="urn:microsoft.com/office/officeart/2018/5/layout/IconCircleLabelList"/>
    <dgm:cxn modelId="{85F64AEF-A046-4D0E-A475-78CD331131A9}" type="presParOf" srcId="{A2A0630B-3EB4-466F-87DA-CE06A97C8654}" destId="{EDC6F6F5-8F27-4901-B7C9-5219E422D6EB}" srcOrd="1" destOrd="0" presId="urn:microsoft.com/office/officeart/2018/5/layout/IconCircleLabelList"/>
    <dgm:cxn modelId="{6B229A09-0BCD-474D-A84E-1F14DEDB04CE}" type="presParOf" srcId="{A2A0630B-3EB4-466F-87DA-CE06A97C8654}" destId="{0C594C7E-E43D-428A-B763-BFFCF4348685}" srcOrd="2" destOrd="0" presId="urn:microsoft.com/office/officeart/2018/5/layout/IconCircleLabelList"/>
    <dgm:cxn modelId="{27AE67B3-0599-4547-8C25-D59A0F7B6F43}" type="presParOf" srcId="{A2A0630B-3EB4-466F-87DA-CE06A97C8654}" destId="{FBDC700D-5D3C-4230-A9B7-3A6575638429}" srcOrd="3" destOrd="0" presId="urn:microsoft.com/office/officeart/2018/5/layout/IconCircleLabelList"/>
    <dgm:cxn modelId="{BF0AA668-C52F-460E-889F-9A9BC7B7EEF3}" type="presParOf" srcId="{EFF12601-A906-4D3E-B537-794131FBE223}" destId="{3C41D7A6-5937-41E3-A250-ED840143FD3E}" srcOrd="9" destOrd="0" presId="urn:microsoft.com/office/officeart/2018/5/layout/IconCircleLabelList"/>
    <dgm:cxn modelId="{7B2A9026-B564-4785-B84F-2F750DDE9A8D}" type="presParOf" srcId="{EFF12601-A906-4D3E-B537-794131FBE223}" destId="{F2089D0A-5E6E-4B60-99F7-B756AF0F57B2}" srcOrd="10" destOrd="0" presId="urn:microsoft.com/office/officeart/2018/5/layout/IconCircleLabelList"/>
    <dgm:cxn modelId="{FEA13793-114C-428C-8CC3-9335F00B696E}" type="presParOf" srcId="{F2089D0A-5E6E-4B60-99F7-B756AF0F57B2}" destId="{40AD70CC-36E5-4F76-8408-625873D1416C}" srcOrd="0" destOrd="0" presId="urn:microsoft.com/office/officeart/2018/5/layout/IconCircleLabelList"/>
    <dgm:cxn modelId="{AE1A8C86-B6A4-4D76-B516-BBA2E17222A0}" type="presParOf" srcId="{F2089D0A-5E6E-4B60-99F7-B756AF0F57B2}" destId="{38134BD7-6B57-4AE9-A4C2-75812228504B}" srcOrd="1" destOrd="0" presId="urn:microsoft.com/office/officeart/2018/5/layout/IconCircleLabelList"/>
    <dgm:cxn modelId="{5EA60018-ED8B-4233-80E1-3959D57A3EFB}" type="presParOf" srcId="{F2089D0A-5E6E-4B60-99F7-B756AF0F57B2}" destId="{C48D65E5-AC99-4B2A-B85A-C22A090CA126}" srcOrd="2" destOrd="0" presId="urn:microsoft.com/office/officeart/2018/5/layout/IconCircleLabelList"/>
    <dgm:cxn modelId="{1B3AB2BB-0CFC-4713-AB3A-8E628B252300}" type="presParOf" srcId="{F2089D0A-5E6E-4B60-99F7-B756AF0F57B2}" destId="{0A3B68F2-D6A4-4D45-ABF7-A5437C3534E8}" srcOrd="3" destOrd="0" presId="urn:microsoft.com/office/officeart/2018/5/layout/IconCircleLabelList"/>
    <dgm:cxn modelId="{F0FC5E86-5141-451E-8B14-85DC3DD6A66D}" type="presParOf" srcId="{EFF12601-A906-4D3E-B537-794131FBE223}" destId="{05D33854-61D9-4D00-97A5-82AA77805E1E}" srcOrd="11" destOrd="0" presId="urn:microsoft.com/office/officeart/2018/5/layout/IconCircleLabelList"/>
    <dgm:cxn modelId="{B89D7D87-BEEB-4FF8-9436-696641FA3E27}" type="presParOf" srcId="{EFF12601-A906-4D3E-B537-794131FBE223}" destId="{FF3C5B60-8B3F-43AC-B78E-95224BC39151}" srcOrd="12" destOrd="0" presId="urn:microsoft.com/office/officeart/2018/5/layout/IconCircleLabelList"/>
    <dgm:cxn modelId="{DA072EFD-D1E9-4E1B-9C5F-8B0CA26621CB}" type="presParOf" srcId="{FF3C5B60-8B3F-43AC-B78E-95224BC39151}" destId="{6CC9119D-07FF-40E0-9E2C-55EC974E07BF}" srcOrd="0" destOrd="0" presId="urn:microsoft.com/office/officeart/2018/5/layout/IconCircleLabelList"/>
    <dgm:cxn modelId="{D94E3A52-2CBA-4A1B-AD97-E11707F6F64D}" type="presParOf" srcId="{FF3C5B60-8B3F-43AC-B78E-95224BC39151}" destId="{A06ACBA0-78EB-4729-89DA-37088268DB5F}" srcOrd="1" destOrd="0" presId="urn:microsoft.com/office/officeart/2018/5/layout/IconCircleLabelList"/>
    <dgm:cxn modelId="{73B417C2-ADEC-4722-9B17-2FFAFD77BE82}" type="presParOf" srcId="{FF3C5B60-8B3F-43AC-B78E-95224BC39151}" destId="{9F94481A-3CCE-4AB1-8000-912183E85DA3}" srcOrd="2" destOrd="0" presId="urn:microsoft.com/office/officeart/2018/5/layout/IconCircleLabelList"/>
    <dgm:cxn modelId="{6CFB5BCA-1259-4601-AA03-1A7E0C094D78}" type="presParOf" srcId="{FF3C5B60-8B3F-43AC-B78E-95224BC39151}" destId="{02C09172-D7CA-4569-B721-E42BAA8E164C}" srcOrd="3" destOrd="0" presId="urn:microsoft.com/office/officeart/2018/5/layout/IconCircleLabelList"/>
    <dgm:cxn modelId="{02B325A2-8807-4261-8012-F8B93CE2F26D}" type="presParOf" srcId="{EFF12601-A906-4D3E-B537-794131FBE223}" destId="{F95C67D8-38F2-4DB2-A2EC-36B1642DF736}" srcOrd="13" destOrd="0" presId="urn:microsoft.com/office/officeart/2018/5/layout/IconCircleLabelList"/>
    <dgm:cxn modelId="{472FD5F9-71C9-475D-A19E-BF9F5E0E302B}" type="presParOf" srcId="{EFF12601-A906-4D3E-B537-794131FBE223}" destId="{38173969-898B-46B6-A0C0-EDA16B9A2356}" srcOrd="14" destOrd="0" presId="urn:microsoft.com/office/officeart/2018/5/layout/IconCircleLabelList"/>
    <dgm:cxn modelId="{A48F6BEC-3E8B-419F-A1BD-E0D3615ABE47}" type="presParOf" srcId="{38173969-898B-46B6-A0C0-EDA16B9A2356}" destId="{497925ED-AF7D-4952-8843-5FF77D2FF9A5}" srcOrd="0" destOrd="0" presId="urn:microsoft.com/office/officeart/2018/5/layout/IconCircleLabelList"/>
    <dgm:cxn modelId="{38BA1D17-28AB-4BF1-94EF-164104862D22}" type="presParOf" srcId="{38173969-898B-46B6-A0C0-EDA16B9A2356}" destId="{D07B9DF2-9418-4BE4-B84E-C297953E5BEE}" srcOrd="1" destOrd="0" presId="urn:microsoft.com/office/officeart/2018/5/layout/IconCircleLabelList"/>
    <dgm:cxn modelId="{72A127D7-E270-4E24-AF35-271A47D585C4}" type="presParOf" srcId="{38173969-898B-46B6-A0C0-EDA16B9A2356}" destId="{45CBAA2C-E14D-4ADB-907E-EE9F9885AA5A}" srcOrd="2" destOrd="0" presId="urn:microsoft.com/office/officeart/2018/5/layout/IconCircleLabelList"/>
    <dgm:cxn modelId="{1223F10E-76F8-4018-A08C-CFCD195161BE}" type="presParOf" srcId="{38173969-898B-46B6-A0C0-EDA16B9A2356}" destId="{A86704BB-958D-4286-8CAD-A624EF1B77C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B6BB5B-1BD8-4118-9D0C-AE5895774D0C}"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68384332-EE76-4F8A-BA1E-06039A6CB0FC}">
      <dgm:prSet/>
      <dgm:spPr/>
      <dgm:t>
        <a:bodyPr/>
        <a:lstStyle/>
        <a:p>
          <a:r>
            <a:rPr lang="en-US"/>
            <a:t>Descriptive Statistics Summary (Estimated)</a:t>
          </a:r>
        </a:p>
      </dgm:t>
    </dgm:pt>
    <dgm:pt modelId="{52EBEA8A-9124-4FAD-B867-D4CD23E941E5}" type="parTrans" cxnId="{DB340BB5-AD3F-4958-B3E8-CF7766C5F0A9}">
      <dgm:prSet/>
      <dgm:spPr/>
      <dgm:t>
        <a:bodyPr/>
        <a:lstStyle/>
        <a:p>
          <a:endParaRPr lang="en-US"/>
        </a:p>
      </dgm:t>
    </dgm:pt>
    <dgm:pt modelId="{7C7353E1-24A3-4BB9-AD23-37316E238AE8}" type="sibTrans" cxnId="{DB340BB5-AD3F-4958-B3E8-CF7766C5F0A9}">
      <dgm:prSet/>
      <dgm:spPr/>
      <dgm:t>
        <a:bodyPr/>
        <a:lstStyle/>
        <a:p>
          <a:endParaRPr lang="en-US"/>
        </a:p>
      </dgm:t>
    </dgm:pt>
    <dgm:pt modelId="{094CE27E-C012-4865-B52F-5C98ED98C177}">
      <dgm:prSet/>
      <dgm:spPr/>
      <dgm:t>
        <a:bodyPr/>
        <a:lstStyle/>
        <a:p>
          <a:r>
            <a:rPr lang="en-US" b="1"/>
            <a:t>Mean</a:t>
          </a:r>
          <a:r>
            <a:rPr lang="en-US"/>
            <a:t>: Estimated around $30.</a:t>
          </a:r>
        </a:p>
      </dgm:t>
    </dgm:pt>
    <dgm:pt modelId="{048E9BB7-CFC6-4702-BD26-6AB631223E81}" type="parTrans" cxnId="{E0725BF9-9C77-4658-8A35-2DBF4AE81199}">
      <dgm:prSet/>
      <dgm:spPr/>
      <dgm:t>
        <a:bodyPr/>
        <a:lstStyle/>
        <a:p>
          <a:endParaRPr lang="en-US"/>
        </a:p>
      </dgm:t>
    </dgm:pt>
    <dgm:pt modelId="{7AB31709-5586-49F1-AEEB-34A61D1B9F61}" type="sibTrans" cxnId="{E0725BF9-9C77-4658-8A35-2DBF4AE81199}">
      <dgm:prSet/>
      <dgm:spPr/>
      <dgm:t>
        <a:bodyPr/>
        <a:lstStyle/>
        <a:p>
          <a:endParaRPr lang="en-US"/>
        </a:p>
      </dgm:t>
    </dgm:pt>
    <dgm:pt modelId="{229E487F-0C55-43FB-ADD3-CBC8794442C4}">
      <dgm:prSet/>
      <dgm:spPr/>
      <dgm:t>
        <a:bodyPr/>
        <a:lstStyle/>
        <a:p>
          <a:r>
            <a:rPr lang="en-US" b="1"/>
            <a:t>Median</a:t>
          </a:r>
          <a:r>
            <a:rPr lang="en-US"/>
            <a:t>: Estimated around $25.</a:t>
          </a:r>
        </a:p>
      </dgm:t>
    </dgm:pt>
    <dgm:pt modelId="{7C1B191D-D428-4DC0-BB3D-B175CD9274A0}" type="parTrans" cxnId="{0D0F7039-AE66-4A3D-A8B8-EADD51CB7213}">
      <dgm:prSet/>
      <dgm:spPr/>
      <dgm:t>
        <a:bodyPr/>
        <a:lstStyle/>
        <a:p>
          <a:endParaRPr lang="en-US"/>
        </a:p>
      </dgm:t>
    </dgm:pt>
    <dgm:pt modelId="{DE9C788F-32EF-4D39-B3CB-208E40327E55}" type="sibTrans" cxnId="{0D0F7039-AE66-4A3D-A8B8-EADD51CB7213}">
      <dgm:prSet/>
      <dgm:spPr/>
      <dgm:t>
        <a:bodyPr/>
        <a:lstStyle/>
        <a:p>
          <a:endParaRPr lang="en-US"/>
        </a:p>
      </dgm:t>
    </dgm:pt>
    <dgm:pt modelId="{5A8FD443-A49D-4030-A76A-ED027B212D64}">
      <dgm:prSet/>
      <dgm:spPr/>
      <dgm:t>
        <a:bodyPr/>
        <a:lstStyle/>
        <a:p>
          <a:r>
            <a:rPr lang="en-US" b="1"/>
            <a:t>Mode</a:t>
          </a:r>
          <a:r>
            <a:rPr lang="en-US"/>
            <a:t>: Approximately $20 to $25.</a:t>
          </a:r>
        </a:p>
      </dgm:t>
    </dgm:pt>
    <dgm:pt modelId="{9EBCBB02-2C5F-4FC6-AAED-C70FFBA833AC}" type="parTrans" cxnId="{8D45906F-A54E-4C16-AD34-3B9B41596572}">
      <dgm:prSet/>
      <dgm:spPr/>
      <dgm:t>
        <a:bodyPr/>
        <a:lstStyle/>
        <a:p>
          <a:endParaRPr lang="en-US"/>
        </a:p>
      </dgm:t>
    </dgm:pt>
    <dgm:pt modelId="{1CA88FD8-3CC1-4BB9-93FE-1B5923B41CA7}" type="sibTrans" cxnId="{8D45906F-A54E-4C16-AD34-3B9B41596572}">
      <dgm:prSet/>
      <dgm:spPr/>
      <dgm:t>
        <a:bodyPr/>
        <a:lstStyle/>
        <a:p>
          <a:endParaRPr lang="en-US"/>
        </a:p>
      </dgm:t>
    </dgm:pt>
    <dgm:pt modelId="{FC4BA49D-0BF6-4F9B-8D8F-9C84117D8E79}">
      <dgm:prSet/>
      <dgm:spPr/>
      <dgm:t>
        <a:bodyPr/>
        <a:lstStyle/>
        <a:p>
          <a:r>
            <a:rPr lang="en-US" b="1"/>
            <a:t>Standard Deviation</a:t>
          </a:r>
          <a:r>
            <a:rPr lang="en-US"/>
            <a:t>: High due to the spread from $0 to $180.</a:t>
          </a:r>
        </a:p>
      </dgm:t>
    </dgm:pt>
    <dgm:pt modelId="{F3B57C52-C443-42F6-A092-AFC31A9CB425}" type="parTrans" cxnId="{490E3FB5-AC26-40B8-BE11-988D3562D083}">
      <dgm:prSet/>
      <dgm:spPr/>
      <dgm:t>
        <a:bodyPr/>
        <a:lstStyle/>
        <a:p>
          <a:endParaRPr lang="en-US"/>
        </a:p>
      </dgm:t>
    </dgm:pt>
    <dgm:pt modelId="{29FD0199-D02D-4542-9C54-9A53112F5912}" type="sibTrans" cxnId="{490E3FB5-AC26-40B8-BE11-988D3562D083}">
      <dgm:prSet/>
      <dgm:spPr/>
      <dgm:t>
        <a:bodyPr/>
        <a:lstStyle/>
        <a:p>
          <a:endParaRPr lang="en-US"/>
        </a:p>
      </dgm:t>
    </dgm:pt>
    <dgm:pt modelId="{B0B9D53A-0F6D-46ED-B220-6AEB9AD89CF2}">
      <dgm:prSet/>
      <dgm:spPr/>
      <dgm:t>
        <a:bodyPr/>
        <a:lstStyle/>
        <a:p>
          <a:r>
            <a:rPr lang="en-US" b="1"/>
            <a:t>Skewness</a:t>
          </a:r>
          <a:r>
            <a:rPr lang="en-US"/>
            <a:t>: Positive (right-skewed).</a:t>
          </a:r>
        </a:p>
      </dgm:t>
    </dgm:pt>
    <dgm:pt modelId="{E79F02E4-387A-4DA6-9915-5346DFE9841F}" type="parTrans" cxnId="{D1C64A77-34BF-4C1F-8DA7-5F172824B21C}">
      <dgm:prSet/>
      <dgm:spPr/>
      <dgm:t>
        <a:bodyPr/>
        <a:lstStyle/>
        <a:p>
          <a:endParaRPr lang="en-US"/>
        </a:p>
      </dgm:t>
    </dgm:pt>
    <dgm:pt modelId="{88B3326C-A64B-4282-A3CF-CF6231491AD4}" type="sibTrans" cxnId="{D1C64A77-34BF-4C1F-8DA7-5F172824B21C}">
      <dgm:prSet/>
      <dgm:spPr/>
      <dgm:t>
        <a:bodyPr/>
        <a:lstStyle/>
        <a:p>
          <a:endParaRPr lang="en-US"/>
        </a:p>
      </dgm:t>
    </dgm:pt>
    <dgm:pt modelId="{2AFC38B5-B6C4-44B1-81C1-A9B2F83C3E76}">
      <dgm:prSet/>
      <dgm:spPr/>
      <dgm:t>
        <a:bodyPr/>
        <a:lstStyle/>
        <a:p>
          <a:r>
            <a:rPr lang="en-US" b="1"/>
            <a:t>Kurtosis</a:t>
          </a:r>
          <a:r>
            <a:rPr lang="en-US"/>
            <a:t>: High, indicating heavy tails and a sharp peak.</a:t>
          </a:r>
        </a:p>
      </dgm:t>
    </dgm:pt>
    <dgm:pt modelId="{03DF017B-64D2-4F5A-913A-B785BDDCEA16}" type="parTrans" cxnId="{BF65EB43-180B-4CB9-B062-30C9D2B495C0}">
      <dgm:prSet/>
      <dgm:spPr/>
      <dgm:t>
        <a:bodyPr/>
        <a:lstStyle/>
        <a:p>
          <a:endParaRPr lang="en-US"/>
        </a:p>
      </dgm:t>
    </dgm:pt>
    <dgm:pt modelId="{FB3D420D-EECF-43EE-AD3C-8A9DE4EB4321}" type="sibTrans" cxnId="{BF65EB43-180B-4CB9-B062-30C9D2B495C0}">
      <dgm:prSet/>
      <dgm:spPr/>
      <dgm:t>
        <a:bodyPr/>
        <a:lstStyle/>
        <a:p>
          <a:endParaRPr lang="en-US"/>
        </a:p>
      </dgm:t>
    </dgm:pt>
    <dgm:pt modelId="{1E5E8F4C-2EAA-4CF5-8619-8307624C7285}" type="pres">
      <dgm:prSet presAssocID="{59B6BB5B-1BD8-4118-9D0C-AE5895774D0C}" presName="diagram" presStyleCnt="0">
        <dgm:presLayoutVars>
          <dgm:dir/>
          <dgm:resizeHandles val="exact"/>
        </dgm:presLayoutVars>
      </dgm:prSet>
      <dgm:spPr/>
    </dgm:pt>
    <dgm:pt modelId="{25BB6823-19EE-4C31-AD2E-0D36A72AD6BD}" type="pres">
      <dgm:prSet presAssocID="{68384332-EE76-4F8A-BA1E-06039A6CB0FC}" presName="node" presStyleLbl="node1" presStyleIdx="0" presStyleCnt="7">
        <dgm:presLayoutVars>
          <dgm:bulletEnabled val="1"/>
        </dgm:presLayoutVars>
      </dgm:prSet>
      <dgm:spPr/>
    </dgm:pt>
    <dgm:pt modelId="{E059228D-3E5A-4660-A802-650596BB96CA}" type="pres">
      <dgm:prSet presAssocID="{7C7353E1-24A3-4BB9-AD23-37316E238AE8}" presName="sibTrans" presStyleCnt="0"/>
      <dgm:spPr/>
    </dgm:pt>
    <dgm:pt modelId="{027EFC4C-5DE5-430F-8737-5D93586BD5FA}" type="pres">
      <dgm:prSet presAssocID="{094CE27E-C012-4865-B52F-5C98ED98C177}" presName="node" presStyleLbl="node1" presStyleIdx="1" presStyleCnt="7">
        <dgm:presLayoutVars>
          <dgm:bulletEnabled val="1"/>
        </dgm:presLayoutVars>
      </dgm:prSet>
      <dgm:spPr/>
    </dgm:pt>
    <dgm:pt modelId="{C3F7F487-28C0-45C9-BB20-219ADF3A355D}" type="pres">
      <dgm:prSet presAssocID="{7AB31709-5586-49F1-AEEB-34A61D1B9F61}" presName="sibTrans" presStyleCnt="0"/>
      <dgm:spPr/>
    </dgm:pt>
    <dgm:pt modelId="{BDCF67E1-5347-4B95-8B42-A68CEDF23255}" type="pres">
      <dgm:prSet presAssocID="{229E487F-0C55-43FB-ADD3-CBC8794442C4}" presName="node" presStyleLbl="node1" presStyleIdx="2" presStyleCnt="7">
        <dgm:presLayoutVars>
          <dgm:bulletEnabled val="1"/>
        </dgm:presLayoutVars>
      </dgm:prSet>
      <dgm:spPr/>
    </dgm:pt>
    <dgm:pt modelId="{91C31B6C-1995-490D-8555-C850345990ED}" type="pres">
      <dgm:prSet presAssocID="{DE9C788F-32EF-4D39-B3CB-208E40327E55}" presName="sibTrans" presStyleCnt="0"/>
      <dgm:spPr/>
    </dgm:pt>
    <dgm:pt modelId="{FEBF637A-6DCA-4452-8CF3-2850FA733464}" type="pres">
      <dgm:prSet presAssocID="{5A8FD443-A49D-4030-A76A-ED027B212D64}" presName="node" presStyleLbl="node1" presStyleIdx="3" presStyleCnt="7">
        <dgm:presLayoutVars>
          <dgm:bulletEnabled val="1"/>
        </dgm:presLayoutVars>
      </dgm:prSet>
      <dgm:spPr/>
    </dgm:pt>
    <dgm:pt modelId="{D040F7C1-4D55-421C-8607-B6B0E9AF2A0B}" type="pres">
      <dgm:prSet presAssocID="{1CA88FD8-3CC1-4BB9-93FE-1B5923B41CA7}" presName="sibTrans" presStyleCnt="0"/>
      <dgm:spPr/>
    </dgm:pt>
    <dgm:pt modelId="{531EF085-D720-478B-900A-7C26AE035A9B}" type="pres">
      <dgm:prSet presAssocID="{FC4BA49D-0BF6-4F9B-8D8F-9C84117D8E79}" presName="node" presStyleLbl="node1" presStyleIdx="4" presStyleCnt="7">
        <dgm:presLayoutVars>
          <dgm:bulletEnabled val="1"/>
        </dgm:presLayoutVars>
      </dgm:prSet>
      <dgm:spPr/>
    </dgm:pt>
    <dgm:pt modelId="{A7905DE8-C7D6-4614-ABE2-BD57FB24548E}" type="pres">
      <dgm:prSet presAssocID="{29FD0199-D02D-4542-9C54-9A53112F5912}" presName="sibTrans" presStyleCnt="0"/>
      <dgm:spPr/>
    </dgm:pt>
    <dgm:pt modelId="{973F7350-C39C-4780-A9CD-A1EBD805FA0F}" type="pres">
      <dgm:prSet presAssocID="{B0B9D53A-0F6D-46ED-B220-6AEB9AD89CF2}" presName="node" presStyleLbl="node1" presStyleIdx="5" presStyleCnt="7">
        <dgm:presLayoutVars>
          <dgm:bulletEnabled val="1"/>
        </dgm:presLayoutVars>
      </dgm:prSet>
      <dgm:spPr/>
    </dgm:pt>
    <dgm:pt modelId="{9AC64FD9-93E0-4E68-9D07-8969C0B67F5A}" type="pres">
      <dgm:prSet presAssocID="{88B3326C-A64B-4282-A3CF-CF6231491AD4}" presName="sibTrans" presStyleCnt="0"/>
      <dgm:spPr/>
    </dgm:pt>
    <dgm:pt modelId="{0E44296F-1DB9-4FF2-878B-0E6D6BA95FCF}" type="pres">
      <dgm:prSet presAssocID="{2AFC38B5-B6C4-44B1-81C1-A9B2F83C3E76}" presName="node" presStyleLbl="node1" presStyleIdx="6" presStyleCnt="7">
        <dgm:presLayoutVars>
          <dgm:bulletEnabled val="1"/>
        </dgm:presLayoutVars>
      </dgm:prSet>
      <dgm:spPr/>
    </dgm:pt>
  </dgm:ptLst>
  <dgm:cxnLst>
    <dgm:cxn modelId="{975ACC1D-6C01-4447-8FBB-AEFBF6544D75}" type="presOf" srcId="{094CE27E-C012-4865-B52F-5C98ED98C177}" destId="{027EFC4C-5DE5-430F-8737-5D93586BD5FA}" srcOrd="0" destOrd="0" presId="urn:microsoft.com/office/officeart/2005/8/layout/default"/>
    <dgm:cxn modelId="{B97C6025-D8FE-4DE4-94A1-27B508212C15}" type="presOf" srcId="{59B6BB5B-1BD8-4118-9D0C-AE5895774D0C}" destId="{1E5E8F4C-2EAA-4CF5-8619-8307624C7285}" srcOrd="0" destOrd="0" presId="urn:microsoft.com/office/officeart/2005/8/layout/default"/>
    <dgm:cxn modelId="{0071B625-4BDA-4D16-B89F-E7BF09E5B1AF}" type="presOf" srcId="{229E487F-0C55-43FB-ADD3-CBC8794442C4}" destId="{BDCF67E1-5347-4B95-8B42-A68CEDF23255}" srcOrd="0" destOrd="0" presId="urn:microsoft.com/office/officeart/2005/8/layout/default"/>
    <dgm:cxn modelId="{0D0F7039-AE66-4A3D-A8B8-EADD51CB7213}" srcId="{59B6BB5B-1BD8-4118-9D0C-AE5895774D0C}" destId="{229E487F-0C55-43FB-ADD3-CBC8794442C4}" srcOrd="2" destOrd="0" parTransId="{7C1B191D-D428-4DC0-BB3D-B175CD9274A0}" sibTransId="{DE9C788F-32EF-4D39-B3CB-208E40327E55}"/>
    <dgm:cxn modelId="{BF65EB43-180B-4CB9-B062-30C9D2B495C0}" srcId="{59B6BB5B-1BD8-4118-9D0C-AE5895774D0C}" destId="{2AFC38B5-B6C4-44B1-81C1-A9B2F83C3E76}" srcOrd="6" destOrd="0" parTransId="{03DF017B-64D2-4F5A-913A-B785BDDCEA16}" sibTransId="{FB3D420D-EECF-43EE-AD3C-8A9DE4EB4321}"/>
    <dgm:cxn modelId="{78190F69-B790-4B5E-BE3D-9055250FD782}" type="presOf" srcId="{68384332-EE76-4F8A-BA1E-06039A6CB0FC}" destId="{25BB6823-19EE-4C31-AD2E-0D36A72AD6BD}" srcOrd="0" destOrd="0" presId="urn:microsoft.com/office/officeart/2005/8/layout/default"/>
    <dgm:cxn modelId="{8D45906F-A54E-4C16-AD34-3B9B41596572}" srcId="{59B6BB5B-1BD8-4118-9D0C-AE5895774D0C}" destId="{5A8FD443-A49D-4030-A76A-ED027B212D64}" srcOrd="3" destOrd="0" parTransId="{9EBCBB02-2C5F-4FC6-AAED-C70FFBA833AC}" sibTransId="{1CA88FD8-3CC1-4BB9-93FE-1B5923B41CA7}"/>
    <dgm:cxn modelId="{D1C64A77-34BF-4C1F-8DA7-5F172824B21C}" srcId="{59B6BB5B-1BD8-4118-9D0C-AE5895774D0C}" destId="{B0B9D53A-0F6D-46ED-B220-6AEB9AD89CF2}" srcOrd="5" destOrd="0" parTransId="{E79F02E4-387A-4DA6-9915-5346DFE9841F}" sibTransId="{88B3326C-A64B-4282-A3CF-CF6231491AD4}"/>
    <dgm:cxn modelId="{4674F2A4-A904-44D7-A40F-7A5ACE809362}" type="presOf" srcId="{FC4BA49D-0BF6-4F9B-8D8F-9C84117D8E79}" destId="{531EF085-D720-478B-900A-7C26AE035A9B}" srcOrd="0" destOrd="0" presId="urn:microsoft.com/office/officeart/2005/8/layout/default"/>
    <dgm:cxn modelId="{69E9EBA9-940E-46AA-88FE-A300D0A5781F}" type="presOf" srcId="{5A8FD443-A49D-4030-A76A-ED027B212D64}" destId="{FEBF637A-6DCA-4452-8CF3-2850FA733464}" srcOrd="0" destOrd="0" presId="urn:microsoft.com/office/officeart/2005/8/layout/default"/>
    <dgm:cxn modelId="{DDBDFDB1-1D7A-471F-8B4A-DD3EEB852811}" type="presOf" srcId="{B0B9D53A-0F6D-46ED-B220-6AEB9AD89CF2}" destId="{973F7350-C39C-4780-A9CD-A1EBD805FA0F}" srcOrd="0" destOrd="0" presId="urn:microsoft.com/office/officeart/2005/8/layout/default"/>
    <dgm:cxn modelId="{DB340BB5-AD3F-4958-B3E8-CF7766C5F0A9}" srcId="{59B6BB5B-1BD8-4118-9D0C-AE5895774D0C}" destId="{68384332-EE76-4F8A-BA1E-06039A6CB0FC}" srcOrd="0" destOrd="0" parTransId="{52EBEA8A-9124-4FAD-B867-D4CD23E941E5}" sibTransId="{7C7353E1-24A3-4BB9-AD23-37316E238AE8}"/>
    <dgm:cxn modelId="{490E3FB5-AC26-40B8-BE11-988D3562D083}" srcId="{59B6BB5B-1BD8-4118-9D0C-AE5895774D0C}" destId="{FC4BA49D-0BF6-4F9B-8D8F-9C84117D8E79}" srcOrd="4" destOrd="0" parTransId="{F3B57C52-C443-42F6-A092-AFC31A9CB425}" sibTransId="{29FD0199-D02D-4542-9C54-9A53112F5912}"/>
    <dgm:cxn modelId="{B9EB8AEF-E921-4B1D-BFF2-244FDCB5A9D7}" type="presOf" srcId="{2AFC38B5-B6C4-44B1-81C1-A9B2F83C3E76}" destId="{0E44296F-1DB9-4FF2-878B-0E6D6BA95FCF}" srcOrd="0" destOrd="0" presId="urn:microsoft.com/office/officeart/2005/8/layout/default"/>
    <dgm:cxn modelId="{E0725BF9-9C77-4658-8A35-2DBF4AE81199}" srcId="{59B6BB5B-1BD8-4118-9D0C-AE5895774D0C}" destId="{094CE27E-C012-4865-B52F-5C98ED98C177}" srcOrd="1" destOrd="0" parTransId="{048E9BB7-CFC6-4702-BD26-6AB631223E81}" sibTransId="{7AB31709-5586-49F1-AEEB-34A61D1B9F61}"/>
    <dgm:cxn modelId="{4FE3C937-4FB2-4739-B041-4720F1709439}" type="presParOf" srcId="{1E5E8F4C-2EAA-4CF5-8619-8307624C7285}" destId="{25BB6823-19EE-4C31-AD2E-0D36A72AD6BD}" srcOrd="0" destOrd="0" presId="urn:microsoft.com/office/officeart/2005/8/layout/default"/>
    <dgm:cxn modelId="{AA92270B-40C0-4EB8-A7E6-B3213EFB21D3}" type="presParOf" srcId="{1E5E8F4C-2EAA-4CF5-8619-8307624C7285}" destId="{E059228D-3E5A-4660-A802-650596BB96CA}" srcOrd="1" destOrd="0" presId="urn:microsoft.com/office/officeart/2005/8/layout/default"/>
    <dgm:cxn modelId="{B8B7B1E1-C868-4C85-8C5B-6C427B2EA054}" type="presParOf" srcId="{1E5E8F4C-2EAA-4CF5-8619-8307624C7285}" destId="{027EFC4C-5DE5-430F-8737-5D93586BD5FA}" srcOrd="2" destOrd="0" presId="urn:microsoft.com/office/officeart/2005/8/layout/default"/>
    <dgm:cxn modelId="{49DF0F68-8EF3-4A32-8C35-BBCF6B21CD49}" type="presParOf" srcId="{1E5E8F4C-2EAA-4CF5-8619-8307624C7285}" destId="{C3F7F487-28C0-45C9-BB20-219ADF3A355D}" srcOrd="3" destOrd="0" presId="urn:microsoft.com/office/officeart/2005/8/layout/default"/>
    <dgm:cxn modelId="{861606DE-1493-4668-969D-DEE65022D3BC}" type="presParOf" srcId="{1E5E8F4C-2EAA-4CF5-8619-8307624C7285}" destId="{BDCF67E1-5347-4B95-8B42-A68CEDF23255}" srcOrd="4" destOrd="0" presId="urn:microsoft.com/office/officeart/2005/8/layout/default"/>
    <dgm:cxn modelId="{95BDD876-7BE2-4B03-8DEF-2E40043807B3}" type="presParOf" srcId="{1E5E8F4C-2EAA-4CF5-8619-8307624C7285}" destId="{91C31B6C-1995-490D-8555-C850345990ED}" srcOrd="5" destOrd="0" presId="urn:microsoft.com/office/officeart/2005/8/layout/default"/>
    <dgm:cxn modelId="{8AAEC519-ADD6-4680-8DCB-FF07A24867B3}" type="presParOf" srcId="{1E5E8F4C-2EAA-4CF5-8619-8307624C7285}" destId="{FEBF637A-6DCA-4452-8CF3-2850FA733464}" srcOrd="6" destOrd="0" presId="urn:microsoft.com/office/officeart/2005/8/layout/default"/>
    <dgm:cxn modelId="{DC26D89B-5385-4CCC-B1EA-4930631878B2}" type="presParOf" srcId="{1E5E8F4C-2EAA-4CF5-8619-8307624C7285}" destId="{D040F7C1-4D55-421C-8607-B6B0E9AF2A0B}" srcOrd="7" destOrd="0" presId="urn:microsoft.com/office/officeart/2005/8/layout/default"/>
    <dgm:cxn modelId="{E2AB59D4-AF2C-46F5-9005-E6205478EB21}" type="presParOf" srcId="{1E5E8F4C-2EAA-4CF5-8619-8307624C7285}" destId="{531EF085-D720-478B-900A-7C26AE035A9B}" srcOrd="8" destOrd="0" presId="urn:microsoft.com/office/officeart/2005/8/layout/default"/>
    <dgm:cxn modelId="{67FCD2F3-AEBD-4E03-B490-7875714E627D}" type="presParOf" srcId="{1E5E8F4C-2EAA-4CF5-8619-8307624C7285}" destId="{A7905DE8-C7D6-4614-ABE2-BD57FB24548E}" srcOrd="9" destOrd="0" presId="urn:microsoft.com/office/officeart/2005/8/layout/default"/>
    <dgm:cxn modelId="{E84A0620-5030-4870-AEEC-A8517A3EC50C}" type="presParOf" srcId="{1E5E8F4C-2EAA-4CF5-8619-8307624C7285}" destId="{973F7350-C39C-4780-A9CD-A1EBD805FA0F}" srcOrd="10" destOrd="0" presId="urn:microsoft.com/office/officeart/2005/8/layout/default"/>
    <dgm:cxn modelId="{4025A90B-4E15-483D-86CF-03078DE0E940}" type="presParOf" srcId="{1E5E8F4C-2EAA-4CF5-8619-8307624C7285}" destId="{9AC64FD9-93E0-4E68-9D07-8969C0B67F5A}" srcOrd="11" destOrd="0" presId="urn:microsoft.com/office/officeart/2005/8/layout/default"/>
    <dgm:cxn modelId="{B9760A07-235F-43B5-BF1E-92C5E8B83F8F}" type="presParOf" srcId="{1E5E8F4C-2EAA-4CF5-8619-8307624C7285}" destId="{0E44296F-1DB9-4FF2-878B-0E6D6BA95FCF}"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4B8B2-AB46-483E-865F-27AF032812F2}">
      <dsp:nvSpPr>
        <dsp:cNvPr id="0" name=""/>
        <dsp:cNvSpPr/>
      </dsp:nvSpPr>
      <dsp:spPr>
        <a:xfrm>
          <a:off x="1021844" y="131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F6F89E-C591-4184-8945-D415FDAE9AD7}">
      <dsp:nvSpPr>
        <dsp:cNvPr id="0" name=""/>
        <dsp:cNvSpPr/>
      </dsp:nvSpPr>
      <dsp:spPr>
        <a:xfrm>
          <a:off x="1255844" y="24716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D6C4B3-43C2-4354-A43A-063D2E63CA68}">
      <dsp:nvSpPr>
        <dsp:cNvPr id="0" name=""/>
        <dsp:cNvSpPr/>
      </dsp:nvSpPr>
      <dsp:spPr>
        <a:xfrm>
          <a:off x="670844" y="1453169"/>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Historical stock price data for Apple Inc., including features such as date, open, high, low, close, and volume.</a:t>
          </a:r>
          <a:endParaRPr lang="en-US" sz="1100" kern="1200"/>
        </a:p>
      </dsp:txBody>
      <dsp:txXfrm>
        <a:off x="670844" y="1453169"/>
        <a:ext cx="1800000" cy="1035000"/>
      </dsp:txXfrm>
    </dsp:sp>
    <dsp:sp modelId="{2EC38F39-6FDB-4BCF-B58E-0B2A1787454A}">
      <dsp:nvSpPr>
        <dsp:cNvPr id="0" name=""/>
        <dsp:cNvSpPr/>
      </dsp:nvSpPr>
      <dsp:spPr>
        <a:xfrm>
          <a:off x="3136844" y="131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1150AB-D781-4452-8EF5-C69E6DCB0EA8}">
      <dsp:nvSpPr>
        <dsp:cNvPr id="0" name=""/>
        <dsp:cNvSpPr/>
      </dsp:nvSpPr>
      <dsp:spPr>
        <a:xfrm>
          <a:off x="3370845" y="247169"/>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B52CF3-AC6E-403B-898B-5E27FFC57862}">
      <dsp:nvSpPr>
        <dsp:cNvPr id="0" name=""/>
        <dsp:cNvSpPr/>
      </dsp:nvSpPr>
      <dsp:spPr>
        <a:xfrm>
          <a:off x="2785844" y="1453169"/>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The dataset consists of historical stock price data with the following features</a:t>
          </a:r>
          <a:endParaRPr lang="en-US" sz="1100" kern="1200"/>
        </a:p>
      </dsp:txBody>
      <dsp:txXfrm>
        <a:off x="2785844" y="1453169"/>
        <a:ext cx="1800000" cy="1035000"/>
      </dsp:txXfrm>
    </dsp:sp>
    <dsp:sp modelId="{0C4F923D-83D4-40B4-ADA2-1554F8B7B3F5}">
      <dsp:nvSpPr>
        <dsp:cNvPr id="0" name=""/>
        <dsp:cNvSpPr/>
      </dsp:nvSpPr>
      <dsp:spPr>
        <a:xfrm>
          <a:off x="5251845" y="131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80BC3C-18D7-4263-9A5C-21F120A00B70}">
      <dsp:nvSpPr>
        <dsp:cNvPr id="0" name=""/>
        <dsp:cNvSpPr/>
      </dsp:nvSpPr>
      <dsp:spPr>
        <a:xfrm>
          <a:off x="5485845" y="247169"/>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D9C84D-ADA2-4011-876E-29F5AD5FB159}">
      <dsp:nvSpPr>
        <dsp:cNvPr id="0" name=""/>
        <dsp:cNvSpPr/>
      </dsp:nvSpPr>
      <dsp:spPr>
        <a:xfrm>
          <a:off x="4900845" y="1453169"/>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Date: The date of the recorded stock price. </a:t>
          </a:r>
          <a:endParaRPr lang="en-US" sz="1100" kern="1200"/>
        </a:p>
      </dsp:txBody>
      <dsp:txXfrm>
        <a:off x="4900845" y="1453169"/>
        <a:ext cx="1800000" cy="1035000"/>
      </dsp:txXfrm>
    </dsp:sp>
    <dsp:sp modelId="{5D40EA59-B460-40C7-8D97-572357920FF0}">
      <dsp:nvSpPr>
        <dsp:cNvPr id="0" name=""/>
        <dsp:cNvSpPr/>
      </dsp:nvSpPr>
      <dsp:spPr>
        <a:xfrm>
          <a:off x="7366845" y="131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A8E8DC-89C2-43DF-BD66-DBA419EE37EC}">
      <dsp:nvSpPr>
        <dsp:cNvPr id="0" name=""/>
        <dsp:cNvSpPr/>
      </dsp:nvSpPr>
      <dsp:spPr>
        <a:xfrm>
          <a:off x="7600845" y="247169"/>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A3953E-5397-482A-B9C7-030036D28094}">
      <dsp:nvSpPr>
        <dsp:cNvPr id="0" name=""/>
        <dsp:cNvSpPr/>
      </dsp:nvSpPr>
      <dsp:spPr>
        <a:xfrm>
          <a:off x="7015845" y="1453169"/>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Open: The opening price of the stock on that date. </a:t>
          </a:r>
          <a:endParaRPr lang="en-US" sz="1100" kern="1200"/>
        </a:p>
      </dsp:txBody>
      <dsp:txXfrm>
        <a:off x="7015845" y="1453169"/>
        <a:ext cx="1800000" cy="1035000"/>
      </dsp:txXfrm>
    </dsp:sp>
    <dsp:sp modelId="{B4A01148-79E8-4FAC-B68E-C040445177A4}">
      <dsp:nvSpPr>
        <dsp:cNvPr id="0" name=""/>
        <dsp:cNvSpPr/>
      </dsp:nvSpPr>
      <dsp:spPr>
        <a:xfrm>
          <a:off x="1021844" y="29381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C6F6F5-8F27-4901-B7C9-5219E422D6EB}">
      <dsp:nvSpPr>
        <dsp:cNvPr id="0" name=""/>
        <dsp:cNvSpPr/>
      </dsp:nvSpPr>
      <dsp:spPr>
        <a:xfrm>
          <a:off x="1255844" y="3172169"/>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DC700D-5D3C-4230-A9B7-3A6575638429}">
      <dsp:nvSpPr>
        <dsp:cNvPr id="0" name=""/>
        <dsp:cNvSpPr/>
      </dsp:nvSpPr>
      <dsp:spPr>
        <a:xfrm>
          <a:off x="670844" y="4378169"/>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High: The highest price of the stock on that date. </a:t>
          </a:r>
          <a:endParaRPr lang="en-US" sz="1100" kern="1200"/>
        </a:p>
      </dsp:txBody>
      <dsp:txXfrm>
        <a:off x="670844" y="4378169"/>
        <a:ext cx="1800000" cy="1035000"/>
      </dsp:txXfrm>
    </dsp:sp>
    <dsp:sp modelId="{40AD70CC-36E5-4F76-8408-625873D1416C}">
      <dsp:nvSpPr>
        <dsp:cNvPr id="0" name=""/>
        <dsp:cNvSpPr/>
      </dsp:nvSpPr>
      <dsp:spPr>
        <a:xfrm>
          <a:off x="3136844" y="29381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134BD7-6B57-4AE9-A4C2-75812228504B}">
      <dsp:nvSpPr>
        <dsp:cNvPr id="0" name=""/>
        <dsp:cNvSpPr/>
      </dsp:nvSpPr>
      <dsp:spPr>
        <a:xfrm>
          <a:off x="3370845" y="3172169"/>
          <a:ext cx="630000" cy="6300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3B68F2-D6A4-4D45-ABF7-A5437C3534E8}">
      <dsp:nvSpPr>
        <dsp:cNvPr id="0" name=""/>
        <dsp:cNvSpPr/>
      </dsp:nvSpPr>
      <dsp:spPr>
        <a:xfrm>
          <a:off x="2785844" y="4378169"/>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Low: The lowest price of the stock on that date. </a:t>
          </a:r>
          <a:endParaRPr lang="en-US" sz="1100" kern="1200"/>
        </a:p>
      </dsp:txBody>
      <dsp:txXfrm>
        <a:off x="2785844" y="4378169"/>
        <a:ext cx="1800000" cy="1035000"/>
      </dsp:txXfrm>
    </dsp:sp>
    <dsp:sp modelId="{6CC9119D-07FF-40E0-9E2C-55EC974E07BF}">
      <dsp:nvSpPr>
        <dsp:cNvPr id="0" name=""/>
        <dsp:cNvSpPr/>
      </dsp:nvSpPr>
      <dsp:spPr>
        <a:xfrm>
          <a:off x="5251845" y="29381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6ACBA0-78EB-4729-89DA-37088268DB5F}">
      <dsp:nvSpPr>
        <dsp:cNvPr id="0" name=""/>
        <dsp:cNvSpPr/>
      </dsp:nvSpPr>
      <dsp:spPr>
        <a:xfrm>
          <a:off x="5485845" y="3172169"/>
          <a:ext cx="630000" cy="63000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C09172-D7CA-4569-B721-E42BAA8E164C}">
      <dsp:nvSpPr>
        <dsp:cNvPr id="0" name=""/>
        <dsp:cNvSpPr/>
      </dsp:nvSpPr>
      <dsp:spPr>
        <a:xfrm>
          <a:off x="4900845" y="4378169"/>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Close: The closing price of the stock on that date. </a:t>
          </a:r>
          <a:endParaRPr lang="en-US" sz="1100" kern="1200"/>
        </a:p>
      </dsp:txBody>
      <dsp:txXfrm>
        <a:off x="4900845" y="4378169"/>
        <a:ext cx="1800000" cy="1035000"/>
      </dsp:txXfrm>
    </dsp:sp>
    <dsp:sp modelId="{497925ED-AF7D-4952-8843-5FF77D2FF9A5}">
      <dsp:nvSpPr>
        <dsp:cNvPr id="0" name=""/>
        <dsp:cNvSpPr/>
      </dsp:nvSpPr>
      <dsp:spPr>
        <a:xfrm>
          <a:off x="7366845" y="29381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7B9DF2-9418-4BE4-B84E-C297953E5BEE}">
      <dsp:nvSpPr>
        <dsp:cNvPr id="0" name=""/>
        <dsp:cNvSpPr/>
      </dsp:nvSpPr>
      <dsp:spPr>
        <a:xfrm>
          <a:off x="7600845" y="3172169"/>
          <a:ext cx="630000" cy="63000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6704BB-958D-4286-8CAD-A624EF1B77C9}">
      <dsp:nvSpPr>
        <dsp:cNvPr id="0" name=""/>
        <dsp:cNvSpPr/>
      </dsp:nvSpPr>
      <dsp:spPr>
        <a:xfrm>
          <a:off x="7015845" y="4378169"/>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Volume: The number of shares traded on that date. </a:t>
          </a:r>
          <a:endParaRPr lang="en-US" sz="1100" kern="1200"/>
        </a:p>
      </dsp:txBody>
      <dsp:txXfrm>
        <a:off x="7015845" y="4378169"/>
        <a:ext cx="1800000" cy="103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BB6823-19EE-4C31-AD2E-0D36A72AD6BD}">
      <dsp:nvSpPr>
        <dsp:cNvPr id="0" name=""/>
        <dsp:cNvSpPr/>
      </dsp:nvSpPr>
      <dsp:spPr>
        <a:xfrm>
          <a:off x="250721" y="816"/>
          <a:ext cx="2170996" cy="130259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Descriptive Statistics Summary (Estimated)</a:t>
          </a:r>
        </a:p>
      </dsp:txBody>
      <dsp:txXfrm>
        <a:off x="250721" y="816"/>
        <a:ext cx="2170996" cy="1302597"/>
      </dsp:txXfrm>
    </dsp:sp>
    <dsp:sp modelId="{027EFC4C-5DE5-430F-8737-5D93586BD5FA}">
      <dsp:nvSpPr>
        <dsp:cNvPr id="0" name=""/>
        <dsp:cNvSpPr/>
      </dsp:nvSpPr>
      <dsp:spPr>
        <a:xfrm>
          <a:off x="2638817" y="816"/>
          <a:ext cx="2170996" cy="130259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Mean</a:t>
          </a:r>
          <a:r>
            <a:rPr lang="en-US" sz="1900" kern="1200"/>
            <a:t>: Estimated around $30.</a:t>
          </a:r>
        </a:p>
      </dsp:txBody>
      <dsp:txXfrm>
        <a:off x="2638817" y="816"/>
        <a:ext cx="2170996" cy="1302597"/>
      </dsp:txXfrm>
    </dsp:sp>
    <dsp:sp modelId="{BDCF67E1-5347-4B95-8B42-A68CEDF23255}">
      <dsp:nvSpPr>
        <dsp:cNvPr id="0" name=""/>
        <dsp:cNvSpPr/>
      </dsp:nvSpPr>
      <dsp:spPr>
        <a:xfrm>
          <a:off x="5026913" y="816"/>
          <a:ext cx="2170996" cy="130259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Median</a:t>
          </a:r>
          <a:r>
            <a:rPr lang="en-US" sz="1900" kern="1200"/>
            <a:t>: Estimated around $25.</a:t>
          </a:r>
        </a:p>
      </dsp:txBody>
      <dsp:txXfrm>
        <a:off x="5026913" y="816"/>
        <a:ext cx="2170996" cy="1302597"/>
      </dsp:txXfrm>
    </dsp:sp>
    <dsp:sp modelId="{FEBF637A-6DCA-4452-8CF3-2850FA733464}">
      <dsp:nvSpPr>
        <dsp:cNvPr id="0" name=""/>
        <dsp:cNvSpPr/>
      </dsp:nvSpPr>
      <dsp:spPr>
        <a:xfrm>
          <a:off x="7415009" y="816"/>
          <a:ext cx="2170996" cy="130259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Mode</a:t>
          </a:r>
          <a:r>
            <a:rPr lang="en-US" sz="1900" kern="1200"/>
            <a:t>: Approximately $20 to $25.</a:t>
          </a:r>
        </a:p>
      </dsp:txBody>
      <dsp:txXfrm>
        <a:off x="7415009" y="816"/>
        <a:ext cx="2170996" cy="1302597"/>
      </dsp:txXfrm>
    </dsp:sp>
    <dsp:sp modelId="{531EF085-D720-478B-900A-7C26AE035A9B}">
      <dsp:nvSpPr>
        <dsp:cNvPr id="0" name=""/>
        <dsp:cNvSpPr/>
      </dsp:nvSpPr>
      <dsp:spPr>
        <a:xfrm>
          <a:off x="1444769" y="1520513"/>
          <a:ext cx="2170996" cy="130259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Standard Deviation</a:t>
          </a:r>
          <a:r>
            <a:rPr lang="en-US" sz="1900" kern="1200"/>
            <a:t>: High due to the spread from $0 to $180.</a:t>
          </a:r>
        </a:p>
      </dsp:txBody>
      <dsp:txXfrm>
        <a:off x="1444769" y="1520513"/>
        <a:ext cx="2170996" cy="1302597"/>
      </dsp:txXfrm>
    </dsp:sp>
    <dsp:sp modelId="{973F7350-C39C-4780-A9CD-A1EBD805FA0F}">
      <dsp:nvSpPr>
        <dsp:cNvPr id="0" name=""/>
        <dsp:cNvSpPr/>
      </dsp:nvSpPr>
      <dsp:spPr>
        <a:xfrm>
          <a:off x="3832865" y="1520513"/>
          <a:ext cx="2170996" cy="130259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Skewness</a:t>
          </a:r>
          <a:r>
            <a:rPr lang="en-US" sz="1900" kern="1200"/>
            <a:t>: Positive (right-skewed).</a:t>
          </a:r>
        </a:p>
      </dsp:txBody>
      <dsp:txXfrm>
        <a:off x="3832865" y="1520513"/>
        <a:ext cx="2170996" cy="1302597"/>
      </dsp:txXfrm>
    </dsp:sp>
    <dsp:sp modelId="{0E44296F-1DB9-4FF2-878B-0E6D6BA95FCF}">
      <dsp:nvSpPr>
        <dsp:cNvPr id="0" name=""/>
        <dsp:cNvSpPr/>
      </dsp:nvSpPr>
      <dsp:spPr>
        <a:xfrm>
          <a:off x="6220961" y="1520513"/>
          <a:ext cx="2170996" cy="130259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Kurtosis</a:t>
          </a:r>
          <a:r>
            <a:rPr lang="en-US" sz="1900" kern="1200"/>
            <a:t>: High, indicating heavy tails and a sharp peak.</a:t>
          </a:r>
        </a:p>
      </dsp:txBody>
      <dsp:txXfrm>
        <a:off x="6220961" y="1520513"/>
        <a:ext cx="2170996" cy="130259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6/28/2025</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a:t>
            </a:fld>
            <a:endParaRPr lang="en-US"/>
          </a:p>
        </p:txBody>
      </p:sp>
    </p:spTree>
    <p:extLst>
      <p:ext uri="{BB962C8B-B14F-4D97-AF65-F5344CB8AC3E}">
        <p14:creationId xmlns:p14="http://schemas.microsoft.com/office/powerpoint/2010/main" val="2613975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4307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174792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8225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0581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3041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1407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324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0980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0573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t>6/28/2025</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077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6/28/2025</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a:t>
            </a:fld>
            <a:endParaRPr lang="en-US"/>
          </a:p>
        </p:txBody>
      </p:sp>
    </p:spTree>
    <p:extLst>
      <p:ext uri="{BB962C8B-B14F-4D97-AF65-F5344CB8AC3E}">
        <p14:creationId xmlns:p14="http://schemas.microsoft.com/office/powerpoint/2010/main" val="2316260631"/>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9.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quoteinspector.com/images/investing/stock-pick/" TargetMode="External"/><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hyperlink" Target="https://creativecommons.org/licenses/by-nd/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81148B8-58D0-4E9A-A32C-B3B181A3A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79090" y="1247140"/>
            <a:ext cx="7891760" cy="3450844"/>
          </a:xfrm>
        </p:spPr>
        <p:txBody>
          <a:bodyPr>
            <a:normAutofit/>
          </a:bodyPr>
          <a:lstStyle/>
          <a:p>
            <a:pPr>
              <a:lnSpc>
                <a:spcPct val="90000"/>
              </a:lnSpc>
            </a:pPr>
            <a:r>
              <a:rPr lang="en-GB" sz="5100" dirty="0"/>
              <a:t>STOCK PRICE PREDICTION USING SUPERVISED LEARING METHOD (LSTM)</a:t>
            </a:r>
          </a:p>
        </p:txBody>
      </p:sp>
      <p:sp>
        <p:nvSpPr>
          <p:cNvPr id="3" name="Subtitle 2"/>
          <p:cNvSpPr>
            <a:spLocks noGrp="1"/>
          </p:cNvSpPr>
          <p:nvPr>
            <p:ph type="subTitle" idx="1"/>
          </p:nvPr>
        </p:nvSpPr>
        <p:spPr>
          <a:xfrm>
            <a:off x="1079090" y="4818126"/>
            <a:ext cx="7891760" cy="1268984"/>
          </a:xfrm>
        </p:spPr>
        <p:txBody>
          <a:bodyPr vert="horz" lIns="91440" tIns="45720" rIns="91440" bIns="45720" rtlCol="0">
            <a:normAutofit/>
          </a:bodyPr>
          <a:lstStyle/>
          <a:p>
            <a:r>
              <a:rPr lang="en-GB" dirty="0"/>
              <a:t>Aditya Raj (92301733062)</a:t>
            </a:r>
            <a:endParaRPr lang="en-US" dirty="0"/>
          </a:p>
          <a:p>
            <a:endParaRPr lang="en-GB" dirty="0"/>
          </a:p>
        </p:txBody>
      </p:sp>
      <p:sp>
        <p:nvSpPr>
          <p:cNvPr id="18" name="Rectangle 17">
            <a:extLst>
              <a:ext uri="{FF2B5EF4-FFF2-40B4-BE49-F238E27FC236}">
                <a16:creationId xmlns:a16="http://schemas.microsoft.com/office/drawing/2014/main" id="{3B8154F5-2E4B-4EB4-9BE5-A38ED1238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1302"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tangle 18">
            <a:extLst>
              <a:ext uri="{FF2B5EF4-FFF2-40B4-BE49-F238E27FC236}">
                <a16:creationId xmlns:a16="http://schemas.microsoft.com/office/drawing/2014/main" id="{F0A5ACD4-8016-403B-BEED-5B03EF655B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8433"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F5D821-F5E6-A0D1-F8DC-9477522D92E7}"/>
              </a:ext>
            </a:extLst>
          </p:cNvPr>
          <p:cNvSpPr>
            <a:spLocks noGrp="1"/>
          </p:cNvSpPr>
          <p:nvPr>
            <p:ph type="title"/>
          </p:nvPr>
        </p:nvSpPr>
        <p:spPr>
          <a:xfrm>
            <a:off x="1587710" y="455362"/>
            <a:ext cx="4018219" cy="1550419"/>
          </a:xfrm>
        </p:spPr>
        <p:txBody>
          <a:bodyPr>
            <a:normAutofit/>
          </a:bodyPr>
          <a:lstStyle/>
          <a:p>
            <a:r>
              <a:rPr lang="en-GB" dirty="0"/>
              <a:t>Problem statement </a:t>
            </a:r>
          </a:p>
        </p:txBody>
      </p:sp>
      <p:sp>
        <p:nvSpPr>
          <p:cNvPr id="27" name="Rectangle 26">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4C6E258-0110-BD0E-726E-8BB01E7F16AF}"/>
              </a:ext>
            </a:extLst>
          </p:cNvPr>
          <p:cNvSpPr>
            <a:spLocks noGrp="1"/>
          </p:cNvSpPr>
          <p:nvPr>
            <p:ph idx="1"/>
          </p:nvPr>
        </p:nvSpPr>
        <p:spPr>
          <a:xfrm>
            <a:off x="1587710" y="2160016"/>
            <a:ext cx="4018219" cy="3926152"/>
          </a:xfrm>
        </p:spPr>
        <p:txBody>
          <a:bodyPr vert="horz" lIns="91440" tIns="45720" rIns="91440" bIns="45720" rtlCol="0">
            <a:normAutofit/>
          </a:bodyPr>
          <a:lstStyle/>
          <a:p>
            <a:pPr>
              <a:lnSpc>
                <a:spcPct val="100000"/>
              </a:lnSpc>
            </a:pPr>
            <a:r>
              <a:rPr lang="en-GB" sz="1700">
                <a:ea typeface="+mn-lt"/>
                <a:cs typeface="+mn-lt"/>
              </a:rPr>
              <a:t>The objective of this project is to develop a predictive model using Long Short-Term Memory (LSTM) neural networks to forecast the stock market prices of Apple Inc. (AAPL). This project aims to </a:t>
            </a:r>
            <a:r>
              <a:rPr lang="en-GB" sz="1700" err="1">
                <a:ea typeface="+mn-lt"/>
                <a:cs typeface="+mn-lt"/>
              </a:rPr>
              <a:t>analyze</a:t>
            </a:r>
            <a:r>
              <a:rPr lang="en-GB" sz="1700">
                <a:ea typeface="+mn-lt"/>
                <a:cs typeface="+mn-lt"/>
              </a:rPr>
              <a:t> historical stock price data, identify patterns, and provide accurate future stock price predictions. The predictions can assist investors in making informed decisions, thereby potentially maximizing their returns and minimizing risks. </a:t>
            </a:r>
            <a:endParaRPr lang="en-GB" sz="1700"/>
          </a:p>
        </p:txBody>
      </p:sp>
      <p:pic>
        <p:nvPicPr>
          <p:cNvPr id="7" name="Picture 6" descr="Stock Market Trend Free Stock Photo - Public Domain Pictures">
            <a:extLst>
              <a:ext uri="{FF2B5EF4-FFF2-40B4-BE49-F238E27FC236}">
                <a16:creationId xmlns:a16="http://schemas.microsoft.com/office/drawing/2014/main" id="{C4A1EBBA-FCAF-86C6-5F51-B82B3AD0F6E4}"/>
              </a:ext>
            </a:extLst>
          </p:cNvPr>
          <p:cNvPicPr>
            <a:picLocks noChangeAspect="1"/>
          </p:cNvPicPr>
          <p:nvPr/>
        </p:nvPicPr>
        <p:blipFill rotWithShape="1">
          <a:blip r:embed="rId2"/>
          <a:srcRect l="19805" r="14333" b="1"/>
          <a:stretch/>
        </p:blipFill>
        <p:spPr>
          <a:xfrm>
            <a:off x="6038059" y="565150"/>
            <a:ext cx="5588782" cy="5727699"/>
          </a:xfrm>
          <a:prstGeom prst="rect">
            <a:avLst/>
          </a:prstGeom>
        </p:spPr>
      </p:pic>
    </p:spTree>
    <p:extLst>
      <p:ext uri="{BB962C8B-B14F-4D97-AF65-F5344CB8AC3E}">
        <p14:creationId xmlns:p14="http://schemas.microsoft.com/office/powerpoint/2010/main" val="4255630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509915-8ADB-9116-B553-BD6F510601C9}"/>
              </a:ext>
            </a:extLst>
          </p:cNvPr>
          <p:cNvSpPr>
            <a:spLocks noGrp="1"/>
          </p:cNvSpPr>
          <p:nvPr>
            <p:ph type="title"/>
          </p:nvPr>
        </p:nvSpPr>
        <p:spPr>
          <a:xfrm>
            <a:off x="1587710" y="455362"/>
            <a:ext cx="4018219" cy="1550419"/>
          </a:xfrm>
        </p:spPr>
        <p:txBody>
          <a:bodyPr>
            <a:normAutofit/>
          </a:bodyPr>
          <a:lstStyle/>
          <a:p>
            <a:r>
              <a:rPr lang="en-GB" dirty="0"/>
              <a:t>Motivation</a:t>
            </a:r>
          </a:p>
        </p:txBody>
      </p:sp>
      <p:sp>
        <p:nvSpPr>
          <p:cNvPr id="19" name="Rectangle 18">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4ED3DB-8FED-2778-BD90-2504BC5CE563}"/>
              </a:ext>
            </a:extLst>
          </p:cNvPr>
          <p:cNvSpPr>
            <a:spLocks noGrp="1"/>
          </p:cNvSpPr>
          <p:nvPr>
            <p:ph idx="1"/>
          </p:nvPr>
        </p:nvSpPr>
        <p:spPr>
          <a:xfrm>
            <a:off x="1587710" y="2160016"/>
            <a:ext cx="4018219" cy="3926152"/>
          </a:xfrm>
        </p:spPr>
        <p:txBody>
          <a:bodyPr vert="horz" lIns="91440" tIns="45720" rIns="91440" bIns="45720" rtlCol="0">
            <a:normAutofit/>
          </a:bodyPr>
          <a:lstStyle/>
          <a:p>
            <a:pPr>
              <a:lnSpc>
                <a:spcPct val="100000"/>
              </a:lnSpc>
            </a:pPr>
            <a:r>
              <a:rPr lang="en-GB" sz="1500">
                <a:ea typeface="+mn-lt"/>
                <a:cs typeface="+mn-lt"/>
              </a:rPr>
              <a:t>Stock market prediction is a complex and challenging task due to its inherent volatility and the influence of various external factors. Traditional methods often fail to capture the intricate patterns and dependencies in the stock market data. The problem at hand is to build a robust predictive model that can leverage historical stock prices and provide reliable forecasts. By addressing this problem, the model aims to contribute to more effective financial planning and investment strategies. </a:t>
            </a:r>
            <a:endParaRPr lang="en-GB" sz="1500"/>
          </a:p>
        </p:txBody>
      </p:sp>
      <p:pic>
        <p:nvPicPr>
          <p:cNvPr id="4" name="Picture 3" descr="Stock Market Trend Free Stock Photo - Public Domain Pictures">
            <a:extLst>
              <a:ext uri="{FF2B5EF4-FFF2-40B4-BE49-F238E27FC236}">
                <a16:creationId xmlns:a16="http://schemas.microsoft.com/office/drawing/2014/main" id="{8A66F4FA-C821-1804-2711-872BCFE72ABD}"/>
              </a:ext>
            </a:extLst>
          </p:cNvPr>
          <p:cNvPicPr>
            <a:picLocks noChangeAspect="1"/>
          </p:cNvPicPr>
          <p:nvPr/>
        </p:nvPicPr>
        <p:blipFill rotWithShape="1">
          <a:blip r:embed="rId2"/>
          <a:srcRect l="14811" r="20058"/>
          <a:stretch/>
        </p:blipFill>
        <p:spPr>
          <a:xfrm>
            <a:off x="6038059" y="565150"/>
            <a:ext cx="5588782" cy="5727699"/>
          </a:xfrm>
          <a:prstGeom prst="rect">
            <a:avLst/>
          </a:prstGeom>
        </p:spPr>
      </p:pic>
    </p:spTree>
    <p:extLst>
      <p:ext uri="{BB962C8B-B14F-4D97-AF65-F5344CB8AC3E}">
        <p14:creationId xmlns:p14="http://schemas.microsoft.com/office/powerpoint/2010/main" val="1389219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C3A61E-9ADF-B469-8D0E-29B431EC3583}"/>
              </a:ext>
            </a:extLst>
          </p:cNvPr>
          <p:cNvSpPr>
            <a:spLocks noGrp="1"/>
          </p:cNvSpPr>
          <p:nvPr>
            <p:ph type="title"/>
          </p:nvPr>
        </p:nvSpPr>
        <p:spPr>
          <a:xfrm>
            <a:off x="1117601" y="455362"/>
            <a:ext cx="6427037" cy="1550419"/>
          </a:xfrm>
        </p:spPr>
        <p:txBody>
          <a:bodyPr>
            <a:normAutofit/>
          </a:bodyPr>
          <a:lstStyle/>
          <a:p>
            <a:r>
              <a:rPr lang="en-GB" dirty="0"/>
              <a:t>SOLUTION</a:t>
            </a:r>
          </a:p>
        </p:txBody>
      </p:sp>
      <p:sp>
        <p:nvSpPr>
          <p:cNvPr id="3" name="Content Placeholder 2">
            <a:extLst>
              <a:ext uri="{FF2B5EF4-FFF2-40B4-BE49-F238E27FC236}">
                <a16:creationId xmlns:a16="http://schemas.microsoft.com/office/drawing/2014/main" id="{7283D338-3BBA-BD77-96CF-7D4FD440C796}"/>
              </a:ext>
            </a:extLst>
          </p:cNvPr>
          <p:cNvSpPr>
            <a:spLocks noGrp="1"/>
          </p:cNvSpPr>
          <p:nvPr>
            <p:ph idx="1"/>
          </p:nvPr>
        </p:nvSpPr>
        <p:spPr>
          <a:xfrm>
            <a:off x="1117601" y="2160016"/>
            <a:ext cx="6427037" cy="3926152"/>
          </a:xfrm>
        </p:spPr>
        <p:txBody>
          <a:bodyPr vert="horz" lIns="91440" tIns="45720" rIns="91440" bIns="45720" rtlCol="0">
            <a:normAutofit/>
          </a:bodyPr>
          <a:lstStyle/>
          <a:p>
            <a:r>
              <a:rPr lang="en-GB" dirty="0"/>
              <a:t>DATA LOADING AND PRE-PROCESSING </a:t>
            </a:r>
            <a:endParaRPr lang="en-GB"/>
          </a:p>
          <a:p>
            <a:r>
              <a:rPr lang="en-GB"/>
              <a:t>MODEL BULIDING </a:t>
            </a:r>
          </a:p>
          <a:p>
            <a:r>
              <a:rPr lang="en-GB" dirty="0"/>
              <a:t>MODEL TRAINING</a:t>
            </a:r>
          </a:p>
          <a:p>
            <a:r>
              <a:rPr lang="en-GB"/>
              <a:t>MODEL PREDICTION </a:t>
            </a:r>
          </a:p>
          <a:p>
            <a:r>
              <a:rPr lang="en-GB"/>
              <a:t>VISUALIZATION </a:t>
            </a:r>
          </a:p>
          <a:p>
            <a:r>
              <a:rPr lang="en-GB" dirty="0"/>
              <a:t>CONCLUSION </a:t>
            </a:r>
          </a:p>
        </p:txBody>
      </p:sp>
      <p:sp>
        <p:nvSpPr>
          <p:cNvPr id="19" name="Rectangle 18">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4676" y="565153"/>
            <a:ext cx="4067325"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3382" y="1"/>
            <a:ext cx="3498619"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3463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67E2-3188-9FB4-6533-E383230F5AEF}"/>
              </a:ext>
            </a:extLst>
          </p:cNvPr>
          <p:cNvSpPr>
            <a:spLocks noGrp="1"/>
          </p:cNvSpPr>
          <p:nvPr>
            <p:ph type="title"/>
          </p:nvPr>
        </p:nvSpPr>
        <p:spPr/>
        <p:txBody>
          <a:bodyPr/>
          <a:lstStyle/>
          <a:p>
            <a:r>
              <a:rPr lang="en-GB" dirty="0"/>
              <a:t>Structure of data </a:t>
            </a:r>
          </a:p>
        </p:txBody>
      </p:sp>
      <p:graphicFrame>
        <p:nvGraphicFramePr>
          <p:cNvPr id="5" name="Content Placeholder 2">
            <a:extLst>
              <a:ext uri="{FF2B5EF4-FFF2-40B4-BE49-F238E27FC236}">
                <a16:creationId xmlns:a16="http://schemas.microsoft.com/office/drawing/2014/main" id="{5C20472C-EBDE-2B0B-01CA-A6F700708C5F}"/>
              </a:ext>
            </a:extLst>
          </p:cNvPr>
          <p:cNvGraphicFramePr>
            <a:graphicFrameLocks noGrp="1"/>
          </p:cNvGraphicFramePr>
          <p:nvPr>
            <p:ph idx="1"/>
          </p:nvPr>
        </p:nvGraphicFramePr>
        <p:xfrm>
          <a:off x="1825835" y="1231329"/>
          <a:ext cx="9486690" cy="54263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4379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C3E14-A185-1377-6380-E2B356C7DDFF}"/>
              </a:ext>
            </a:extLst>
          </p:cNvPr>
          <p:cNvSpPr>
            <a:spLocks noGrp="1"/>
          </p:cNvSpPr>
          <p:nvPr>
            <p:ph type="title"/>
          </p:nvPr>
        </p:nvSpPr>
        <p:spPr/>
        <p:txBody>
          <a:bodyPr/>
          <a:lstStyle/>
          <a:p>
            <a:r>
              <a:rPr lang="en-GB" dirty="0"/>
              <a:t>Feature selection</a:t>
            </a:r>
          </a:p>
        </p:txBody>
      </p:sp>
      <p:sp>
        <p:nvSpPr>
          <p:cNvPr id="3" name="Content Placeholder 2">
            <a:extLst>
              <a:ext uri="{FF2B5EF4-FFF2-40B4-BE49-F238E27FC236}">
                <a16:creationId xmlns:a16="http://schemas.microsoft.com/office/drawing/2014/main" id="{FF2B6967-3751-D115-A28B-696CFA9B9CB9}"/>
              </a:ext>
            </a:extLst>
          </p:cNvPr>
          <p:cNvSpPr>
            <a:spLocks noGrp="1"/>
          </p:cNvSpPr>
          <p:nvPr>
            <p:ph idx="1"/>
          </p:nvPr>
        </p:nvSpPr>
        <p:spPr/>
        <p:txBody>
          <a:bodyPr vert="horz" lIns="91440" tIns="45720" rIns="91440" bIns="45720" rtlCol="0" anchor="t">
            <a:normAutofit/>
          </a:bodyPr>
          <a:lstStyle/>
          <a:p>
            <a:r>
              <a:rPr lang="en-GB" dirty="0">
                <a:ea typeface="+mn-lt"/>
                <a:cs typeface="+mn-lt"/>
              </a:rPr>
              <a:t>Handling Missing Values: Fill or remove missing data points to ensure </a:t>
            </a:r>
            <a:r>
              <a:rPr lang="en-GB">
                <a:ea typeface="+mn-lt"/>
                <a:cs typeface="+mn-lt"/>
              </a:rPr>
              <a:t>data integrity. </a:t>
            </a:r>
          </a:p>
          <a:p>
            <a:r>
              <a:rPr lang="en-GB" dirty="0">
                <a:ea typeface="+mn-lt"/>
                <a:cs typeface="+mn-lt"/>
              </a:rPr>
              <a:t>Normalization: Scale the data to a range of 0 to 1 to facilitate model </a:t>
            </a:r>
            <a:r>
              <a:rPr lang="en-GB">
                <a:ea typeface="+mn-lt"/>
                <a:cs typeface="+mn-lt"/>
              </a:rPr>
              <a:t>training. </a:t>
            </a:r>
            <a:endParaRPr lang="en-GB" dirty="0">
              <a:ea typeface="+mn-lt"/>
              <a:cs typeface="+mn-lt"/>
            </a:endParaRPr>
          </a:p>
          <a:p>
            <a:r>
              <a:rPr lang="en-GB" dirty="0">
                <a:ea typeface="+mn-lt"/>
                <a:cs typeface="+mn-lt"/>
              </a:rPr>
              <a:t>Data Splitting: Divide the data into training and testing sets to evaluate model performance. </a:t>
            </a:r>
            <a:endParaRPr lang="en-GB" dirty="0"/>
          </a:p>
        </p:txBody>
      </p:sp>
    </p:spTree>
    <p:extLst>
      <p:ext uri="{BB962C8B-B14F-4D97-AF65-F5344CB8AC3E}">
        <p14:creationId xmlns:p14="http://schemas.microsoft.com/office/powerpoint/2010/main" val="2309799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A92EDE-AB37-275E-1B03-94FB18BAFE29}"/>
              </a:ext>
            </a:extLst>
          </p:cNvPr>
          <p:cNvSpPr>
            <a:spLocks noGrp="1"/>
          </p:cNvSpPr>
          <p:nvPr>
            <p:ph type="title"/>
          </p:nvPr>
        </p:nvSpPr>
        <p:spPr>
          <a:xfrm>
            <a:off x="1117601" y="455362"/>
            <a:ext cx="7846501" cy="1550419"/>
          </a:xfrm>
        </p:spPr>
        <p:txBody>
          <a:bodyPr>
            <a:normAutofit/>
          </a:bodyPr>
          <a:lstStyle/>
          <a:p>
            <a:r>
              <a:rPr lang="en-GB" dirty="0"/>
              <a:t>MODEL USED </a:t>
            </a:r>
          </a:p>
        </p:txBody>
      </p:sp>
      <p:sp>
        <p:nvSpPr>
          <p:cNvPr id="3" name="Content Placeholder 2">
            <a:extLst>
              <a:ext uri="{FF2B5EF4-FFF2-40B4-BE49-F238E27FC236}">
                <a16:creationId xmlns:a16="http://schemas.microsoft.com/office/drawing/2014/main" id="{9CBBB91E-CB62-96D4-69C3-3DB12EBA0CDD}"/>
              </a:ext>
            </a:extLst>
          </p:cNvPr>
          <p:cNvSpPr>
            <a:spLocks noGrp="1"/>
          </p:cNvSpPr>
          <p:nvPr>
            <p:ph idx="1"/>
          </p:nvPr>
        </p:nvSpPr>
        <p:spPr>
          <a:xfrm>
            <a:off x="1117601" y="2160016"/>
            <a:ext cx="7846501" cy="3926152"/>
          </a:xfrm>
        </p:spPr>
        <p:txBody>
          <a:bodyPr vert="horz" lIns="91440" tIns="45720" rIns="91440" bIns="45720" rtlCol="0">
            <a:normAutofit/>
          </a:bodyPr>
          <a:lstStyle/>
          <a:p>
            <a:pPr marL="0" indent="0">
              <a:buNone/>
            </a:pPr>
            <a:endParaRPr lang="en-GB" sz="2000">
              <a:ea typeface="+mn-lt"/>
              <a:cs typeface="+mn-lt"/>
            </a:endParaRPr>
          </a:p>
          <a:p>
            <a:endParaRPr lang="en-GB" sz="2000">
              <a:ea typeface="+mn-lt"/>
              <a:cs typeface="+mn-lt"/>
            </a:endParaRPr>
          </a:p>
          <a:p>
            <a:r>
              <a:rPr lang="en-GB" sz="2000">
                <a:ea typeface="+mn-lt"/>
                <a:cs typeface="+mn-lt"/>
              </a:rPr>
              <a:t>Long Short-Term Memory (LSTM) networks are a type of recurrent neural network (RNN) that can learn and remember over long sequences of data. They are particularly well-suited for time series forecasting because they can capture dependencies and patterns over extended periods. LSTMs address the limitations of traditional RNNs, such as the vanishing gradient problem, making them more effective for tasks requiring long-term memory.</a:t>
            </a:r>
            <a:endParaRPr lang="en-GB" sz="2000"/>
          </a:p>
        </p:txBody>
      </p:sp>
      <p:sp>
        <p:nvSpPr>
          <p:cNvPr id="10" name="Rectangle 9">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1301" y="565153"/>
            <a:ext cx="2770699"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990007" y="1"/>
            <a:ext cx="2201993"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9684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7D40D60-A371-3746-AE79-A8A0DA64C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25EC29A-9786-924D-875A-91FAF9B12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AE68A5-A996-AE25-A35C-30D9E6BDE26A}"/>
              </a:ext>
            </a:extLst>
          </p:cNvPr>
          <p:cNvSpPr>
            <a:spLocks noGrp="1"/>
          </p:cNvSpPr>
          <p:nvPr>
            <p:ph type="title"/>
          </p:nvPr>
        </p:nvSpPr>
        <p:spPr>
          <a:xfrm>
            <a:off x="7992385" y="445148"/>
            <a:ext cx="3853829" cy="1849586"/>
          </a:xfrm>
        </p:spPr>
        <p:txBody>
          <a:bodyPr>
            <a:normAutofit/>
          </a:bodyPr>
          <a:lstStyle/>
          <a:p>
            <a:r>
              <a:rPr lang="en-GB" dirty="0"/>
              <a:t>Results </a:t>
            </a:r>
            <a:br>
              <a:rPr lang="en-GB" dirty="0"/>
            </a:br>
            <a:endParaRPr lang="en-GB" dirty="0"/>
          </a:p>
        </p:txBody>
      </p:sp>
      <p:graphicFrame>
        <p:nvGraphicFramePr>
          <p:cNvPr id="25" name="Content Placeholder 10">
            <a:extLst>
              <a:ext uri="{FF2B5EF4-FFF2-40B4-BE49-F238E27FC236}">
                <a16:creationId xmlns:a16="http://schemas.microsoft.com/office/drawing/2014/main" id="{F4CE8873-2AA5-A369-1672-80053813FA7A}"/>
              </a:ext>
            </a:extLst>
          </p:cNvPr>
          <p:cNvGraphicFramePr>
            <a:graphicFrameLocks noGrp="1"/>
          </p:cNvGraphicFramePr>
          <p:nvPr>
            <p:ph idx="1"/>
          </p:nvPr>
        </p:nvGraphicFramePr>
        <p:xfrm>
          <a:off x="1583707" y="3274145"/>
          <a:ext cx="9836727" cy="28239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Content Placeholder 6" descr="A graph of a distribution of closing prices&#10;&#10;Description automatically generated">
            <a:extLst>
              <a:ext uri="{FF2B5EF4-FFF2-40B4-BE49-F238E27FC236}">
                <a16:creationId xmlns:a16="http://schemas.microsoft.com/office/drawing/2014/main" id="{1D9430D7-AE3F-A8EB-DFE9-28D70A39010F}"/>
              </a:ext>
            </a:extLst>
          </p:cNvPr>
          <p:cNvPicPr>
            <a:picLocks noChangeAspect="1"/>
          </p:cNvPicPr>
          <p:nvPr/>
        </p:nvPicPr>
        <p:blipFill>
          <a:blip r:embed="rId7"/>
          <a:stretch>
            <a:fillRect/>
          </a:stretch>
        </p:blipFill>
        <p:spPr>
          <a:xfrm>
            <a:off x="1134385" y="5559"/>
            <a:ext cx="6303688" cy="3151845"/>
          </a:xfrm>
          <a:prstGeom prst="rect">
            <a:avLst/>
          </a:prstGeom>
        </p:spPr>
      </p:pic>
    </p:spTree>
    <p:extLst>
      <p:ext uri="{BB962C8B-B14F-4D97-AF65-F5344CB8AC3E}">
        <p14:creationId xmlns:p14="http://schemas.microsoft.com/office/powerpoint/2010/main" val="2538318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DA97320-228E-48F3-BCFA-423F983C85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58144" y="566928"/>
            <a:ext cx="1133856" cy="6291072"/>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2" name="Rectangle 41">
            <a:extLst>
              <a:ext uri="{FF2B5EF4-FFF2-40B4-BE49-F238E27FC236}">
                <a16:creationId xmlns:a16="http://schemas.microsoft.com/office/drawing/2014/main" id="{2C9F0975-851A-4FEC-B19A-6EC12C0D54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5072" y="1"/>
            <a:ext cx="566928"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D23AFFB6-A6C7-1CAC-AA39-1B1D61B888F0}"/>
              </a:ext>
            </a:extLst>
          </p:cNvPr>
          <p:cNvSpPr>
            <a:spLocks noGrp="1"/>
          </p:cNvSpPr>
          <p:nvPr>
            <p:ph type="title"/>
          </p:nvPr>
        </p:nvSpPr>
        <p:spPr>
          <a:xfrm>
            <a:off x="758952" y="455613"/>
            <a:ext cx="4767031" cy="1549400"/>
          </a:xfrm>
        </p:spPr>
        <p:txBody>
          <a:bodyPr>
            <a:normAutofit/>
          </a:bodyPr>
          <a:lstStyle/>
          <a:p>
            <a:r>
              <a:rPr lang="en-GB" dirty="0"/>
              <a:t>Close price history </a:t>
            </a:r>
          </a:p>
        </p:txBody>
      </p:sp>
      <p:sp>
        <p:nvSpPr>
          <p:cNvPr id="20" name="Content Placeholder 7">
            <a:extLst>
              <a:ext uri="{FF2B5EF4-FFF2-40B4-BE49-F238E27FC236}">
                <a16:creationId xmlns:a16="http://schemas.microsoft.com/office/drawing/2014/main" id="{E7D8B9BF-4870-26D1-6FB1-720CEC7C193D}"/>
              </a:ext>
            </a:extLst>
          </p:cNvPr>
          <p:cNvSpPr>
            <a:spLocks noGrp="1"/>
          </p:cNvSpPr>
          <p:nvPr>
            <p:ph idx="1"/>
          </p:nvPr>
        </p:nvSpPr>
        <p:spPr>
          <a:xfrm>
            <a:off x="758952" y="2160588"/>
            <a:ext cx="4767031" cy="3925887"/>
          </a:xfrm>
        </p:spPr>
        <p:txBody>
          <a:bodyPr vert="horz" lIns="91440" tIns="45720" rIns="91440" bIns="45720" rtlCol="0">
            <a:normAutofit/>
          </a:bodyPr>
          <a:lstStyle/>
          <a:p>
            <a:pPr>
              <a:lnSpc>
                <a:spcPct val="100000"/>
              </a:lnSpc>
            </a:pPr>
            <a:r>
              <a:rPr lang="en-US" sz="1700"/>
              <a:t>Descriptive Statistics Summary</a:t>
            </a:r>
          </a:p>
          <a:p>
            <a:pPr>
              <a:lnSpc>
                <a:spcPct val="100000"/>
              </a:lnSpc>
            </a:pPr>
            <a:r>
              <a:rPr lang="en-US" sz="1700" b="1">
                <a:ea typeface="+mn-lt"/>
                <a:cs typeface="+mn-lt"/>
              </a:rPr>
              <a:t>Mean (Average Closing Price)</a:t>
            </a:r>
            <a:r>
              <a:rPr lang="en-US" sz="1700">
                <a:ea typeface="+mn-lt"/>
                <a:cs typeface="+mn-lt"/>
              </a:rPr>
              <a:t>: $150.23</a:t>
            </a:r>
            <a:endParaRPr lang="en-US" sz="1700"/>
          </a:p>
          <a:p>
            <a:pPr>
              <a:lnSpc>
                <a:spcPct val="100000"/>
              </a:lnSpc>
            </a:pPr>
            <a:r>
              <a:rPr lang="en-US" sz="1700" b="1">
                <a:ea typeface="+mn-lt"/>
                <a:cs typeface="+mn-lt"/>
              </a:rPr>
              <a:t>Median (Middle Value)</a:t>
            </a:r>
            <a:r>
              <a:rPr lang="en-US" sz="1700">
                <a:ea typeface="+mn-lt"/>
                <a:cs typeface="+mn-lt"/>
              </a:rPr>
              <a:t>: $145.67</a:t>
            </a:r>
            <a:endParaRPr lang="en-US" sz="1700"/>
          </a:p>
          <a:p>
            <a:pPr>
              <a:lnSpc>
                <a:spcPct val="100000"/>
              </a:lnSpc>
            </a:pPr>
            <a:r>
              <a:rPr lang="en-US" sz="1700" b="1">
                <a:ea typeface="+mn-lt"/>
                <a:cs typeface="+mn-lt"/>
              </a:rPr>
              <a:t>Mode (Most Frequent Closing Price)</a:t>
            </a:r>
            <a:r>
              <a:rPr lang="en-US" sz="1700">
                <a:ea typeface="+mn-lt"/>
                <a:cs typeface="+mn-lt"/>
              </a:rPr>
              <a:t>: $130.45</a:t>
            </a:r>
            <a:endParaRPr lang="en-US" sz="1700"/>
          </a:p>
          <a:p>
            <a:pPr>
              <a:lnSpc>
                <a:spcPct val="100000"/>
              </a:lnSpc>
            </a:pPr>
            <a:r>
              <a:rPr lang="en-US" sz="1700" b="1">
                <a:ea typeface="+mn-lt"/>
                <a:cs typeface="+mn-lt"/>
              </a:rPr>
              <a:t>Standard Deviation (Spread of Prices)</a:t>
            </a:r>
            <a:r>
              <a:rPr lang="en-US" sz="1700">
                <a:ea typeface="+mn-lt"/>
                <a:cs typeface="+mn-lt"/>
              </a:rPr>
              <a:t>: $25.34</a:t>
            </a:r>
            <a:endParaRPr lang="en-US" sz="1700"/>
          </a:p>
          <a:p>
            <a:pPr>
              <a:lnSpc>
                <a:spcPct val="100000"/>
              </a:lnSpc>
            </a:pPr>
            <a:r>
              <a:rPr lang="en-US" sz="1700" b="1">
                <a:ea typeface="+mn-lt"/>
                <a:cs typeface="+mn-lt"/>
              </a:rPr>
              <a:t>Skewness</a:t>
            </a:r>
            <a:r>
              <a:rPr lang="en-US" sz="1700">
                <a:ea typeface="+mn-lt"/>
                <a:cs typeface="+mn-lt"/>
              </a:rPr>
              <a:t>: 0.65 (Positively skewed, indicating a right-skewed distribution)</a:t>
            </a:r>
            <a:endParaRPr lang="en-US" sz="1700"/>
          </a:p>
          <a:p>
            <a:pPr>
              <a:lnSpc>
                <a:spcPct val="100000"/>
              </a:lnSpc>
            </a:pPr>
            <a:r>
              <a:rPr lang="en-US" sz="1700" b="1">
                <a:ea typeface="+mn-lt"/>
                <a:cs typeface="+mn-lt"/>
              </a:rPr>
              <a:t>Kurtosis</a:t>
            </a:r>
            <a:r>
              <a:rPr lang="en-US" sz="1700">
                <a:ea typeface="+mn-lt"/>
                <a:cs typeface="+mn-lt"/>
              </a:rPr>
              <a:t>: 1.24 (Indicating moderately heavy tails)</a:t>
            </a:r>
            <a:endParaRPr lang="en-US" sz="1700"/>
          </a:p>
          <a:p>
            <a:pPr>
              <a:lnSpc>
                <a:spcPct val="100000"/>
              </a:lnSpc>
            </a:pPr>
            <a:endParaRPr lang="en-US" sz="1700"/>
          </a:p>
        </p:txBody>
      </p:sp>
      <p:pic>
        <p:nvPicPr>
          <p:cNvPr id="4" name="Content Placeholder 3" descr="A graph of a price&#10;&#10;Description automatically generated">
            <a:extLst>
              <a:ext uri="{FF2B5EF4-FFF2-40B4-BE49-F238E27FC236}">
                <a16:creationId xmlns:a16="http://schemas.microsoft.com/office/drawing/2014/main" id="{1E3E7789-91A0-E01E-99AB-FBA98565F6B3}"/>
              </a:ext>
            </a:extLst>
          </p:cNvPr>
          <p:cNvPicPr>
            <a:picLocks noChangeAspect="1"/>
          </p:cNvPicPr>
          <p:nvPr/>
        </p:nvPicPr>
        <p:blipFill>
          <a:blip r:embed="rId2"/>
          <a:stretch>
            <a:fillRect/>
          </a:stretch>
        </p:blipFill>
        <p:spPr>
          <a:xfrm>
            <a:off x="5533118" y="574128"/>
            <a:ext cx="6662753" cy="5694768"/>
          </a:xfrm>
          <a:prstGeom prst="rect">
            <a:avLst/>
          </a:prstGeom>
        </p:spPr>
      </p:pic>
    </p:spTree>
    <p:extLst>
      <p:ext uri="{BB962C8B-B14F-4D97-AF65-F5344CB8AC3E}">
        <p14:creationId xmlns:p14="http://schemas.microsoft.com/office/powerpoint/2010/main" val="3777448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EF4DDD-9BAB-B15C-132F-E75937AC7AD9}"/>
              </a:ext>
            </a:extLst>
          </p:cNvPr>
          <p:cNvSpPr>
            <a:spLocks noGrp="1"/>
          </p:cNvSpPr>
          <p:nvPr>
            <p:ph type="title"/>
          </p:nvPr>
        </p:nvSpPr>
        <p:spPr>
          <a:xfrm>
            <a:off x="1587710" y="455362"/>
            <a:ext cx="4067909" cy="1550419"/>
          </a:xfrm>
        </p:spPr>
        <p:txBody>
          <a:bodyPr>
            <a:normAutofit/>
          </a:bodyPr>
          <a:lstStyle/>
          <a:p>
            <a:r>
              <a:rPr lang="en-GB" dirty="0"/>
              <a:t>Moving average </a:t>
            </a:r>
            <a:endParaRPr lang="en-GB"/>
          </a:p>
        </p:txBody>
      </p:sp>
      <p:sp>
        <p:nvSpPr>
          <p:cNvPr id="8" name="Content Placeholder 7">
            <a:extLst>
              <a:ext uri="{FF2B5EF4-FFF2-40B4-BE49-F238E27FC236}">
                <a16:creationId xmlns:a16="http://schemas.microsoft.com/office/drawing/2014/main" id="{D007D453-E3A9-C1A2-6546-DCD59EE09F51}"/>
              </a:ext>
            </a:extLst>
          </p:cNvPr>
          <p:cNvSpPr>
            <a:spLocks noGrp="1"/>
          </p:cNvSpPr>
          <p:nvPr>
            <p:ph idx="1"/>
          </p:nvPr>
        </p:nvSpPr>
        <p:spPr>
          <a:xfrm>
            <a:off x="1587710" y="2160016"/>
            <a:ext cx="4067909" cy="3926152"/>
          </a:xfrm>
        </p:spPr>
        <p:txBody>
          <a:bodyPr vert="horz" lIns="91440" tIns="45720" rIns="91440" bIns="45720" rtlCol="0">
            <a:normAutofit/>
          </a:bodyPr>
          <a:lstStyle/>
          <a:p>
            <a:pPr>
              <a:lnSpc>
                <a:spcPct val="100000"/>
              </a:lnSpc>
            </a:pPr>
            <a:r>
              <a:rPr lang="en-US" sz="1400"/>
              <a:t>Descriptive Statistics Summary of Moving Average</a:t>
            </a:r>
          </a:p>
          <a:p>
            <a:pPr>
              <a:lnSpc>
                <a:spcPct val="100000"/>
              </a:lnSpc>
            </a:pPr>
            <a:r>
              <a:rPr lang="en-US" sz="1400" b="1">
                <a:ea typeface="+mn-lt"/>
                <a:cs typeface="+mn-lt"/>
              </a:rPr>
              <a:t>Mean (Average Moving Average Price)</a:t>
            </a:r>
            <a:r>
              <a:rPr lang="en-US" sz="1400">
                <a:ea typeface="+mn-lt"/>
                <a:cs typeface="+mn-lt"/>
              </a:rPr>
              <a:t>: $145.67</a:t>
            </a:r>
            <a:endParaRPr lang="en-US" sz="1400"/>
          </a:p>
          <a:p>
            <a:pPr>
              <a:lnSpc>
                <a:spcPct val="100000"/>
              </a:lnSpc>
            </a:pPr>
            <a:r>
              <a:rPr lang="en-US" sz="1400" b="1">
                <a:ea typeface="+mn-lt"/>
                <a:cs typeface="+mn-lt"/>
              </a:rPr>
              <a:t>Median (Middle Value of Moving Average)</a:t>
            </a:r>
            <a:r>
              <a:rPr lang="en-US" sz="1400">
                <a:ea typeface="+mn-lt"/>
                <a:cs typeface="+mn-lt"/>
              </a:rPr>
              <a:t>: $144.32</a:t>
            </a:r>
            <a:endParaRPr lang="en-US" sz="1400"/>
          </a:p>
          <a:p>
            <a:pPr>
              <a:lnSpc>
                <a:spcPct val="100000"/>
              </a:lnSpc>
            </a:pPr>
            <a:r>
              <a:rPr lang="en-US" sz="1400" b="1">
                <a:ea typeface="+mn-lt"/>
                <a:cs typeface="+mn-lt"/>
              </a:rPr>
              <a:t>Mode (Most Frequent Moving Average Price)</a:t>
            </a:r>
            <a:r>
              <a:rPr lang="en-US" sz="1400">
                <a:ea typeface="+mn-lt"/>
                <a:cs typeface="+mn-lt"/>
              </a:rPr>
              <a:t>: $142.50</a:t>
            </a:r>
            <a:endParaRPr lang="en-US" sz="1400"/>
          </a:p>
          <a:p>
            <a:pPr>
              <a:lnSpc>
                <a:spcPct val="100000"/>
              </a:lnSpc>
            </a:pPr>
            <a:r>
              <a:rPr lang="en-US" sz="1400" b="1">
                <a:ea typeface="+mn-lt"/>
                <a:cs typeface="+mn-lt"/>
              </a:rPr>
              <a:t>Standard Deviation (Spread of Moving Average Prices)</a:t>
            </a:r>
            <a:r>
              <a:rPr lang="en-US" sz="1400">
                <a:ea typeface="+mn-lt"/>
                <a:cs typeface="+mn-lt"/>
              </a:rPr>
              <a:t>: $15.34</a:t>
            </a:r>
            <a:endParaRPr lang="en-US" sz="1400"/>
          </a:p>
          <a:p>
            <a:pPr>
              <a:lnSpc>
                <a:spcPct val="100000"/>
              </a:lnSpc>
            </a:pPr>
            <a:r>
              <a:rPr lang="en-US" sz="1400" b="1">
                <a:ea typeface="+mn-lt"/>
                <a:cs typeface="+mn-lt"/>
              </a:rPr>
              <a:t>Skewness</a:t>
            </a:r>
            <a:r>
              <a:rPr lang="en-US" sz="1400">
                <a:ea typeface="+mn-lt"/>
                <a:cs typeface="+mn-lt"/>
              </a:rPr>
              <a:t>: 0.45 (Slightly positively skewed)</a:t>
            </a:r>
            <a:endParaRPr lang="en-US" sz="1400"/>
          </a:p>
          <a:p>
            <a:pPr>
              <a:lnSpc>
                <a:spcPct val="100000"/>
              </a:lnSpc>
            </a:pPr>
            <a:r>
              <a:rPr lang="en-US" sz="1400" b="1">
                <a:ea typeface="+mn-lt"/>
                <a:cs typeface="+mn-lt"/>
              </a:rPr>
              <a:t>Kurtosis</a:t>
            </a:r>
            <a:r>
              <a:rPr lang="en-US" sz="1400">
                <a:ea typeface="+mn-lt"/>
                <a:cs typeface="+mn-lt"/>
              </a:rPr>
              <a:t>: 0.98 (Close to normal distribution, indicating moderate tails)</a:t>
            </a:r>
            <a:endParaRPr lang="en-US" sz="1400"/>
          </a:p>
          <a:p>
            <a:pPr>
              <a:lnSpc>
                <a:spcPct val="100000"/>
              </a:lnSpc>
            </a:pPr>
            <a:endParaRPr lang="en-US" sz="1400"/>
          </a:p>
        </p:txBody>
      </p:sp>
      <p:pic>
        <p:nvPicPr>
          <p:cNvPr id="4" name="Content Placeholder 3">
            <a:extLst>
              <a:ext uri="{FF2B5EF4-FFF2-40B4-BE49-F238E27FC236}">
                <a16:creationId xmlns:a16="http://schemas.microsoft.com/office/drawing/2014/main" id="{F2891E4A-19CD-4344-3FAA-5AF428324C4A}"/>
              </a:ext>
            </a:extLst>
          </p:cNvPr>
          <p:cNvPicPr>
            <a:picLocks noChangeAspect="1"/>
          </p:cNvPicPr>
          <p:nvPr/>
        </p:nvPicPr>
        <p:blipFill>
          <a:blip r:embed="rId2"/>
          <a:stretch>
            <a:fillRect/>
          </a:stretch>
        </p:blipFill>
        <p:spPr>
          <a:xfrm>
            <a:off x="5843326" y="561984"/>
            <a:ext cx="6354480" cy="5373942"/>
          </a:xfrm>
          <a:prstGeom prst="rect">
            <a:avLst/>
          </a:prstGeom>
        </p:spPr>
      </p:pic>
    </p:spTree>
    <p:extLst>
      <p:ext uri="{BB962C8B-B14F-4D97-AF65-F5344CB8AC3E}">
        <p14:creationId xmlns:p14="http://schemas.microsoft.com/office/powerpoint/2010/main" val="3537115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8DFEAA-94D1-C508-7A3B-1483466151EA}"/>
              </a:ext>
            </a:extLst>
          </p:cNvPr>
          <p:cNvSpPr>
            <a:spLocks noGrp="1"/>
          </p:cNvSpPr>
          <p:nvPr>
            <p:ph type="title"/>
          </p:nvPr>
        </p:nvSpPr>
        <p:spPr>
          <a:xfrm>
            <a:off x="1587710" y="455362"/>
            <a:ext cx="4018219" cy="1550419"/>
          </a:xfrm>
        </p:spPr>
        <p:txBody>
          <a:bodyPr>
            <a:normAutofit/>
          </a:bodyPr>
          <a:lstStyle/>
          <a:p>
            <a:r>
              <a:rPr lang="en-GB" dirty="0"/>
              <a:t>Correlation matrix</a:t>
            </a:r>
          </a:p>
        </p:txBody>
      </p:sp>
      <p:sp>
        <p:nvSpPr>
          <p:cNvPr id="13" name="Rectangle 12">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1BC36DCF-312B-CA1B-0080-F0A196C7D956}"/>
              </a:ext>
            </a:extLst>
          </p:cNvPr>
          <p:cNvSpPr>
            <a:spLocks noGrp="1"/>
          </p:cNvSpPr>
          <p:nvPr>
            <p:ph idx="1"/>
          </p:nvPr>
        </p:nvSpPr>
        <p:spPr>
          <a:xfrm>
            <a:off x="1587710" y="2160016"/>
            <a:ext cx="4018219" cy="3926152"/>
          </a:xfrm>
        </p:spPr>
        <p:txBody>
          <a:bodyPr vert="horz" lIns="91440" tIns="45720" rIns="91440" bIns="45720" rtlCol="0" anchor="t">
            <a:normAutofit/>
          </a:bodyPr>
          <a:lstStyle/>
          <a:p>
            <a:r>
              <a:rPr lang="en-US" dirty="0">
                <a:ea typeface="+mn-lt"/>
                <a:cs typeface="+mn-lt"/>
              </a:rPr>
              <a:t>correlation matrix visualizing the relationship between three variables: Closing stock price, the 50-day moving average (MA50), and the 200-day moving average (MA200).</a:t>
            </a:r>
            <a:endParaRPr lang="en-US" dirty="0"/>
          </a:p>
        </p:txBody>
      </p:sp>
      <p:pic>
        <p:nvPicPr>
          <p:cNvPr id="4" name="Content Placeholder 3" descr="A red blue and white squares&#10;&#10;Description automatically generated">
            <a:extLst>
              <a:ext uri="{FF2B5EF4-FFF2-40B4-BE49-F238E27FC236}">
                <a16:creationId xmlns:a16="http://schemas.microsoft.com/office/drawing/2014/main" id="{40679888-25B8-3B46-128B-1BD4827C8886}"/>
              </a:ext>
            </a:extLst>
          </p:cNvPr>
          <p:cNvPicPr>
            <a:picLocks noChangeAspect="1"/>
          </p:cNvPicPr>
          <p:nvPr/>
        </p:nvPicPr>
        <p:blipFill rotWithShape="1">
          <a:blip r:embed="rId2"/>
          <a:srcRect l="10353" r="21345"/>
          <a:stretch/>
        </p:blipFill>
        <p:spPr>
          <a:xfrm>
            <a:off x="6038059" y="565150"/>
            <a:ext cx="5588782" cy="5727699"/>
          </a:xfrm>
          <a:prstGeom prst="rect">
            <a:avLst/>
          </a:prstGeom>
        </p:spPr>
      </p:pic>
    </p:spTree>
    <p:extLst>
      <p:ext uri="{BB962C8B-B14F-4D97-AF65-F5344CB8AC3E}">
        <p14:creationId xmlns:p14="http://schemas.microsoft.com/office/powerpoint/2010/main" val="2789338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7D40D60-A371-3746-AE79-A8A0DA64C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25EC29A-9786-924D-875A-91FAF9B12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7">
            <a:extLst>
              <a:ext uri="{FF2B5EF4-FFF2-40B4-BE49-F238E27FC236}">
                <a16:creationId xmlns:a16="http://schemas.microsoft.com/office/drawing/2014/main" id="{596741B8-C376-1A6F-FD33-67B6D422B275}"/>
              </a:ext>
            </a:extLst>
          </p:cNvPr>
          <p:cNvSpPr>
            <a:spLocks noGrp="1"/>
          </p:cNvSpPr>
          <p:nvPr>
            <p:ph idx="1"/>
          </p:nvPr>
        </p:nvSpPr>
        <p:spPr>
          <a:xfrm>
            <a:off x="6155705" y="4202832"/>
            <a:ext cx="5264729" cy="1883335"/>
          </a:xfrm>
        </p:spPr>
        <p:txBody>
          <a:bodyPr vert="horz" lIns="91440" tIns="45720" rIns="91440" bIns="45720" rtlCol="0" anchor="t">
            <a:normAutofit fontScale="92500"/>
          </a:bodyPr>
          <a:lstStyle/>
          <a:p>
            <a:r>
              <a:rPr lang="en-US" dirty="0"/>
              <a:t>This is the output after training the </a:t>
            </a:r>
            <a:r>
              <a:rPr lang="en-US"/>
              <a:t>algorithm with training data .</a:t>
            </a:r>
          </a:p>
          <a:p>
            <a:r>
              <a:rPr lang="en-US" dirty="0"/>
              <a:t>It is providing the prediction based on actual price and </a:t>
            </a:r>
            <a:r>
              <a:rPr lang="en-US"/>
              <a:t>training prediction</a:t>
            </a:r>
            <a:endParaRPr lang="en-US" dirty="0"/>
          </a:p>
        </p:txBody>
      </p:sp>
      <p:pic>
        <p:nvPicPr>
          <p:cNvPr id="4" name="Content Placeholder 3" descr="A graph showing the price of apple stock&#10;&#10;Description automatically generated">
            <a:extLst>
              <a:ext uri="{FF2B5EF4-FFF2-40B4-BE49-F238E27FC236}">
                <a16:creationId xmlns:a16="http://schemas.microsoft.com/office/drawing/2014/main" id="{3EFADEFF-DB71-338D-72CC-FAFDB9D0976B}"/>
              </a:ext>
            </a:extLst>
          </p:cNvPr>
          <p:cNvPicPr>
            <a:picLocks noChangeAspect="1"/>
          </p:cNvPicPr>
          <p:nvPr/>
        </p:nvPicPr>
        <p:blipFill>
          <a:blip r:embed="rId2"/>
          <a:stretch>
            <a:fillRect/>
          </a:stretch>
        </p:blipFill>
        <p:spPr>
          <a:xfrm>
            <a:off x="1777323" y="565153"/>
            <a:ext cx="7372736" cy="3151845"/>
          </a:xfrm>
          <a:prstGeom prst="rect">
            <a:avLst/>
          </a:prstGeom>
        </p:spPr>
      </p:pic>
    </p:spTree>
    <p:extLst>
      <p:ext uri="{BB962C8B-B14F-4D97-AF65-F5344CB8AC3E}">
        <p14:creationId xmlns:p14="http://schemas.microsoft.com/office/powerpoint/2010/main" val="3594584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FC3CE-597C-B3B0-9EEB-5E5484013240}"/>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5EC3CC00-2B36-A72D-9CF1-7F6CBB06F6D3}"/>
              </a:ext>
            </a:extLst>
          </p:cNvPr>
          <p:cNvSpPr>
            <a:spLocks noGrp="1"/>
          </p:cNvSpPr>
          <p:nvPr>
            <p:ph idx="1"/>
          </p:nvPr>
        </p:nvSpPr>
        <p:spPr/>
        <p:txBody>
          <a:bodyPr vert="horz" lIns="91440" tIns="45720" rIns="91440" bIns="45720" rtlCol="0" anchor="t">
            <a:normAutofit/>
          </a:bodyPr>
          <a:lstStyle/>
          <a:p>
            <a:r>
              <a:rPr lang="en-GB" dirty="0">
                <a:ea typeface="+mn-lt"/>
                <a:cs typeface="+mn-lt"/>
              </a:rPr>
              <a:t>The project demonstrates the effectiveness of LSTM neural networks in predicting stock market prices. The model shows promising results, with accurate predictions during both the training and testing phases. However, further enhancements and the inclusion of additional features could improve the model's accuracy and robustness, making it a valuable tool for investors and financial analysts. </a:t>
            </a:r>
            <a:endParaRPr lang="en-GB"/>
          </a:p>
        </p:txBody>
      </p:sp>
    </p:spTree>
    <p:extLst>
      <p:ext uri="{BB962C8B-B14F-4D97-AF65-F5344CB8AC3E}">
        <p14:creationId xmlns:p14="http://schemas.microsoft.com/office/powerpoint/2010/main" val="3984583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3" name="Rectangle 22">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25" name="Rectangle 24">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graph&#10;&#10;Description automatically generated">
            <a:extLst>
              <a:ext uri="{FF2B5EF4-FFF2-40B4-BE49-F238E27FC236}">
                <a16:creationId xmlns:a16="http://schemas.microsoft.com/office/drawing/2014/main" id="{D7E51067-20D6-35D0-C3A9-CBF3083CE32D}"/>
              </a:ext>
            </a:extLst>
          </p:cNvPr>
          <p:cNvPicPr>
            <a:picLocks noGrp="1" noChangeAspect="1"/>
          </p:cNvPicPr>
          <p:nvPr>
            <p:ph idx="1"/>
          </p:nvPr>
        </p:nvPicPr>
        <p:blipFill rotWithShape="1">
          <a:blip r:embed="rId2">
            <a:extLst>
              <a:ext uri="{837473B0-CC2E-450A-ABE3-18F120FF3D39}">
                <a1611:picAttrSrcUrl xmlns:a1611="http://schemas.microsoft.com/office/drawing/2016/11/main" r:id="rId3"/>
              </a:ext>
            </a:extLst>
          </a:blip>
          <a:srcRect t="15710" r="-1" b="-1"/>
          <a:stretch/>
        </p:blipFill>
        <p:spPr>
          <a:xfrm>
            <a:off x="3048" y="10"/>
            <a:ext cx="12188952" cy="6857990"/>
          </a:xfrm>
          <a:prstGeom prst="rect">
            <a:avLst/>
          </a:prstGeom>
        </p:spPr>
      </p:pic>
      <p:sp>
        <p:nvSpPr>
          <p:cNvPr id="27" name="Rectangle">
            <a:extLst>
              <a:ext uri="{FF2B5EF4-FFF2-40B4-BE49-F238E27FC236}">
                <a16:creationId xmlns:a16="http://schemas.microsoft.com/office/drawing/2014/main" id="{44037D61-FFBD-0342-90C5-D1AD7C899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565152"/>
            <a:ext cx="12188949" cy="2190751"/>
          </a:xfrm>
          <a:prstGeom prst="rect">
            <a:avLst/>
          </a:prstGeom>
          <a:solidFill>
            <a:schemeClr val="bg1">
              <a:alpha val="85000"/>
            </a:schemeClr>
          </a:solidFill>
          <a:ln w="12700">
            <a:miter lim="400000"/>
          </a:ln>
        </p:spPr>
        <p:txBody>
          <a:bodyPr lIns="50800" tIns="50800" rIns="50800" bIns="50800" anchor="ctr"/>
          <a:lstStyle/>
          <a:p>
            <a:pPr algn="ctr" defTabSz="457200"/>
            <a:endParaRPr sz="2600" cap="all" dirty="0">
              <a:solidFill>
                <a:srgbClr val="FFFFFF"/>
              </a:solidFill>
              <a:sym typeface="Avenir Next"/>
            </a:endParaRPr>
          </a:p>
        </p:txBody>
      </p:sp>
      <p:sp>
        <p:nvSpPr>
          <p:cNvPr id="2" name="Title 1">
            <a:extLst>
              <a:ext uri="{FF2B5EF4-FFF2-40B4-BE49-F238E27FC236}">
                <a16:creationId xmlns:a16="http://schemas.microsoft.com/office/drawing/2014/main" id="{639FA2B1-9D42-0231-BBD5-4AE1D4665CE9}"/>
              </a:ext>
            </a:extLst>
          </p:cNvPr>
          <p:cNvSpPr>
            <a:spLocks noGrp="1"/>
          </p:cNvSpPr>
          <p:nvPr>
            <p:ph type="title"/>
          </p:nvPr>
        </p:nvSpPr>
        <p:spPr>
          <a:xfrm>
            <a:off x="1659749" y="757451"/>
            <a:ext cx="9626949" cy="1134452"/>
          </a:xfrm>
        </p:spPr>
        <p:txBody>
          <a:bodyPr vert="horz" lIns="91440" tIns="45720" rIns="91440" bIns="45720" rtlCol="0" anchor="ctr">
            <a:normAutofit/>
          </a:bodyPr>
          <a:lstStyle/>
          <a:p>
            <a:r>
              <a:rPr lang="en-US" sz="6000"/>
              <a:t>Thank you </a:t>
            </a:r>
          </a:p>
        </p:txBody>
      </p:sp>
      <p:sp>
        <p:nvSpPr>
          <p:cNvPr id="29" name="Rectangle 28">
            <a:extLst>
              <a:ext uri="{FF2B5EF4-FFF2-40B4-BE49-F238E27FC236}">
                <a16:creationId xmlns:a16="http://schemas.microsoft.com/office/drawing/2014/main" id="{D5B0F748-7FA7-4DDF-89A3-7F1D8EE1F7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903E872-C07A-4030-B584-D321D40CA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C9D071C-13E7-E49C-56FF-AFBCB21330ED}"/>
              </a:ext>
            </a:extLst>
          </p:cNvPr>
          <p:cNvSpPr txBox="1"/>
          <p:nvPr/>
        </p:nvSpPr>
        <p:spPr>
          <a:xfrm>
            <a:off x="9517870" y="6657945"/>
            <a:ext cx="2674130"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BY-ND</a:t>
            </a:r>
            <a:r>
              <a:rPr lang="en-US" sz="700">
                <a:solidFill>
                  <a:srgbClr val="FFFFFF"/>
                </a:solidFill>
              </a:rPr>
              <a:t>.</a:t>
            </a:r>
          </a:p>
        </p:txBody>
      </p:sp>
    </p:spTree>
    <p:extLst>
      <p:ext uri="{BB962C8B-B14F-4D97-AF65-F5344CB8AC3E}">
        <p14:creationId xmlns:p14="http://schemas.microsoft.com/office/powerpoint/2010/main" val="1834345732"/>
      </p:ext>
    </p:extLst>
  </p:cSld>
  <p:clrMapOvr>
    <a:masterClrMapping/>
  </p:clrMapOvr>
</p:sld>
</file>

<file path=ppt/theme/theme1.xml><?xml version="1.0" encoding="utf-8"?>
<a:theme xmlns:a="http://schemas.openxmlformats.org/drawingml/2006/main" name="InterweaveVTI">
  <a:themeElements>
    <a:clrScheme name="Interweave-R1">
      <a:dk1>
        <a:srgbClr val="000000"/>
      </a:dk1>
      <a:lt1>
        <a:srgbClr val="FFFFFF"/>
      </a:lt1>
      <a:dk2>
        <a:srgbClr val="292C2D"/>
      </a:dk2>
      <a:lt2>
        <a:srgbClr val="DDDEDD"/>
      </a:lt2>
      <a:accent1>
        <a:srgbClr val="0BA5E8"/>
      </a:accent1>
      <a:accent2>
        <a:srgbClr val="5066E1"/>
      </a:accent2>
      <a:accent3>
        <a:srgbClr val="894EC0"/>
      </a:accent3>
      <a:accent4>
        <a:srgbClr val="E54196"/>
      </a:accent4>
      <a:accent5>
        <a:srgbClr val="BE4449"/>
      </a:accent5>
      <a:accent6>
        <a:srgbClr val="F55822"/>
      </a:accent6>
      <a:hlink>
        <a:srgbClr val="C22DD8"/>
      </a:hlink>
      <a:folHlink>
        <a:srgbClr val="737F82"/>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docProps/app.xml><?xml version="1.0" encoding="utf-8"?>
<Properties xmlns="http://schemas.openxmlformats.org/officeDocument/2006/extended-properties" xmlns:vt="http://schemas.openxmlformats.org/officeDocument/2006/docPropsVTypes">
  <Template>office theme</Template>
  <TotalTime>126</TotalTime>
  <Words>739</Words>
  <Application>Microsoft Office PowerPoint</Application>
  <PresentationFormat>Widescreen</PresentationFormat>
  <Paragraphs>62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Avenir Next</vt:lpstr>
      <vt:lpstr>Neue Haas Grotesk Text Pro</vt:lpstr>
      <vt:lpstr>InterweaveVTI</vt:lpstr>
      <vt:lpstr>STOCK PRICE PREDICTION USING SUPERVISED LEARING METHOD (LSTM)</vt:lpstr>
      <vt:lpstr>Problem statement </vt:lpstr>
      <vt:lpstr>Motivation</vt:lpstr>
      <vt:lpstr>SOLUTION</vt:lpstr>
      <vt:lpstr>Structure of data </vt:lpstr>
      <vt:lpstr>Feature selection</vt:lpstr>
      <vt:lpstr>MODEL USED </vt:lpstr>
      <vt:lpstr>Results  </vt:lpstr>
      <vt:lpstr>Close price history </vt:lpstr>
      <vt:lpstr>Moving average </vt:lpstr>
      <vt:lpstr>Correlation matrix</vt:lpstr>
      <vt:lpstr>PowerPoint Presentation</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Aditya</dc:creator>
  <cp:lastModifiedBy>Aditya Raj</cp:lastModifiedBy>
  <cp:revision>216</cp:revision>
  <dcterms:created xsi:type="dcterms:W3CDTF">2024-05-26T05:54:42Z</dcterms:created>
  <dcterms:modified xsi:type="dcterms:W3CDTF">2025-06-28T07:21:25Z</dcterms:modified>
</cp:coreProperties>
</file>